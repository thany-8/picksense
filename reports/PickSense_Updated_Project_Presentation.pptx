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PickSense is a computer vision project focused on object occlusion. The goal is to classify an object as clear, partially occluded, or heavily occluded. This is a supervised multiclass classification problem and represents an early perception step that could help a robot understand what it can see before interacting with an object. The updated project now uses 3,600 images and reaches 90.5 percent test accuracy.</a:t>
            </a:r>
          </a:p>
          <a:p/>
          <a:p>
            <a:r>
              <a:t>Suggested time: ~30 seconds.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Robots need visual information before they can manipulate objects. In real environments, objects are often partially hidden. PickSense focuses specifically on this perception problem. Given an image, the model must choose one of three occlusion levels. At this stage, PickSense is not predicting whether the robot can successfully grasp the object. It is first learning to understand how visible the object is.</a:t>
            </a:r>
          </a:p>
          <a:p/>
          <a:p>
            <a:r>
              <a:t>Suggested time: ~40 seconds.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organized PickSense as several layers instead of putting everything into one notebook. The data layer prepares and stores the data. PyTorch DataLoaders feed batches to the models. The model layer contains my Vision Transformer experiments. The training layer handles optimization on the GPU, and the evaluation layer now measures accuracy, class-level performance, and predictions across the complete test set.</a:t>
            </a:r>
          </a:p>
          <a:p/>
          <a:p>
            <a:r>
              <a:t>Suggested time: ~48 seconds.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challenge was repeatedly downloading data whenever Colab disconnected. I separated preparation from training. Notebook 00 downloads and stores the prepared data permanently in Google Drive. Notebook 01 only verifies and loads it. I initially used a 300-image prototype to debug the pipeline quickly. After the pipeline worked, I expanded it to 3,600 balanced images: 3,000 for training and 600 for testing, while preserving the original OpenLORIS splits.</a:t>
            </a:r>
          </a:p>
          <a:p/>
          <a:p>
            <a:r>
              <a:t>Suggested time: ~45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first built a Vision Transformer from scratch. That path starts with no learned visual knowledge and must learn both features and classification from PickSense data. I also tested transfer learning with a pretrained ViT-B/16. Its backbone already represents shapes, edges, and textures, so I froze those parameters and trained a new three-class head. The scratch implementation also exposed architecture bugs that I corrected, including duplicated residual behavior and a global patch-size dependency. For the current dataset, the pretrained path is the strongest validated model.</a:t>
            </a:r>
          </a:p>
          <a:p/>
          <a:p>
            <a:r>
              <a:t>Suggested time: ~48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important result is the data-scaling comparison. With only 10 percent of the earlier pool, the pretrained model trained on 36 images and reached 58.3 percent test accuracy. After expanding the dataset and using all 3,000 training images, test accuracy reached 90.5 percent, a gain of 32.2 percentage points. Across classes, clear reached 93.5 percent, partially occluded 91 percent, and heavily occluded 87 percent. The remaining gap is concentrated most strongly in heavy occlusion.</a:t>
            </a:r>
          </a:p>
          <a:p/>
          <a:p>
            <a:r>
              <a:t>Suggested time: ~55 seconds.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controlled scaling experiment now has two verified endpoints: 10 percent and 100 percent. The intermediate 25, 50, and 75 percent runs are still useful future work because they would reveal the shape of the accuracy-versus-compute curve, so I have not invented those points. The biggest lesson is that machine learning is not only about choosing a model. Dataset design, infrastructure, architecture correctness, computational cost, and evaluation all affect the final system. Next I would add augmentation, selective fine-tuning, compression, and eventually replace the occlusion proxy with real grasp-success labels.</a:t>
            </a:r>
          </a:p>
          <a:p/>
          <a:p>
            <a:r>
              <a:t>Suggested time: ~52 seconds.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658368" y="530352"/>
            <a:ext cx="7132320" cy="320040"/>
          </a:xfrm>
          <a:prstGeom prst="rect">
            <a:avLst/>
          </a:prstGeom>
          <a:noFill/>
        </p:spPr>
        <p:txBody>
          <a:bodyPr wrap="square" lIns="45720" rIns="45720" anchor="t">
            <a:spAutoFit/>
          </a:bodyPr>
          <a:lstStyle/>
          <a:p>
            <a:pPr algn="l"/>
            <a:r>
              <a:rPr sz="1100" b="1">
                <a:solidFill>
                  <a:srgbClr val="5EEAD4"/>
                </a:solidFill>
                <a:latin typeface="Aptos"/>
              </a:rPr>
              <a:t>ROBOTIC VISION  /  MULTICLASS CLASSIFICATION</a:t>
            </a:r>
          </a:p>
        </p:txBody>
      </p:sp>
      <p:sp>
        <p:nvSpPr>
          <p:cNvPr id="3" name="TextBox 2"/>
          <p:cNvSpPr txBox="1"/>
          <p:nvPr/>
        </p:nvSpPr>
        <p:spPr>
          <a:xfrm>
            <a:off x="658368" y="1152144"/>
            <a:ext cx="6949440" cy="749808"/>
          </a:xfrm>
          <a:prstGeom prst="rect">
            <a:avLst/>
          </a:prstGeom>
          <a:noFill/>
        </p:spPr>
        <p:txBody>
          <a:bodyPr wrap="square" lIns="45720" rIns="45720" anchor="t">
            <a:spAutoFit/>
          </a:bodyPr>
          <a:lstStyle/>
          <a:p>
            <a:pPr algn="l"/>
            <a:r>
              <a:rPr sz="4200" b="1">
                <a:solidFill>
                  <a:srgbClr val="FFFFFF"/>
                </a:solidFill>
                <a:latin typeface="Aptos Display"/>
              </a:rPr>
              <a:t>PickSense</a:t>
            </a:r>
          </a:p>
        </p:txBody>
      </p:sp>
      <p:sp>
        <p:nvSpPr>
          <p:cNvPr id="4" name="TextBox 3"/>
          <p:cNvSpPr txBox="1"/>
          <p:nvPr/>
        </p:nvSpPr>
        <p:spPr>
          <a:xfrm>
            <a:off x="658368" y="1901952"/>
            <a:ext cx="7223760" cy="1143000"/>
          </a:xfrm>
          <a:prstGeom prst="rect">
            <a:avLst/>
          </a:prstGeom>
          <a:noFill/>
        </p:spPr>
        <p:txBody>
          <a:bodyPr wrap="square" lIns="45720" rIns="45720" anchor="t">
            <a:spAutoFit/>
          </a:bodyPr>
          <a:lstStyle/>
          <a:p>
            <a:pPr algn="l"/>
            <a:r>
              <a:rPr sz="3000" b="1">
                <a:solidFill>
                  <a:srgbClr val="FFFFFF"/>
                </a:solidFill>
                <a:latin typeface="Aptos Display"/>
              </a:rPr>
              <a:t>Occlusion Classification
for Robotic Vision</a:t>
            </a:r>
          </a:p>
        </p:txBody>
      </p:sp>
      <p:sp>
        <p:nvSpPr>
          <p:cNvPr id="5" name="TextBox 4"/>
          <p:cNvSpPr txBox="1"/>
          <p:nvPr/>
        </p:nvSpPr>
        <p:spPr>
          <a:xfrm>
            <a:off x="694944" y="3218688"/>
            <a:ext cx="6858000" cy="502920"/>
          </a:xfrm>
          <a:prstGeom prst="rect">
            <a:avLst/>
          </a:prstGeom>
          <a:noFill/>
        </p:spPr>
        <p:txBody>
          <a:bodyPr wrap="square" lIns="45720" rIns="45720" anchor="t">
            <a:spAutoFit/>
          </a:bodyPr>
          <a:lstStyle/>
          <a:p>
            <a:pPr algn="l"/>
            <a:r>
              <a:rPr sz="1700" b="0">
                <a:solidFill>
                  <a:srgbClr val="CBD5E1"/>
                </a:solidFill>
                <a:latin typeface="Aptos"/>
              </a:rPr>
              <a:t>Supervised multiclass image classification for robotic perception</a:t>
            </a:r>
          </a:p>
        </p:txBody>
      </p:sp>
      <p:sp>
        <p:nvSpPr>
          <p:cNvPr id="6" name="Rounded Rectangle 5"/>
          <p:cNvSpPr/>
          <p:nvPr/>
        </p:nvSpPr>
        <p:spPr>
          <a:xfrm>
            <a:off x="694944" y="4160520"/>
            <a:ext cx="1600200" cy="749808"/>
          </a:xfrm>
          <a:prstGeom prst="roundRect">
            <a:avLst/>
          </a:prstGeom>
          <a:solidFill>
            <a:srgbClr val="172554"/>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4944" y="4160520"/>
            <a:ext cx="1600200" cy="749808"/>
          </a:xfrm>
          <a:prstGeom prst="rect">
            <a:avLst/>
          </a:prstGeom>
          <a:noFill/>
        </p:spPr>
        <p:txBody>
          <a:bodyPr wrap="square" lIns="45720" rIns="45720" anchor="ctr">
            <a:spAutoFit/>
          </a:bodyPr>
          <a:lstStyle/>
          <a:p>
            <a:pPr algn="ctr"/>
            <a:r>
              <a:rPr sz="1300" b="1">
                <a:solidFill>
                  <a:srgbClr val="FFFFFF"/>
                </a:solidFill>
                <a:latin typeface="Aptos"/>
              </a:rPr>
              <a:t>IMAGE</a:t>
            </a:r>
          </a:p>
        </p:txBody>
      </p:sp>
      <p:sp>
        <p:nvSpPr>
          <p:cNvPr id="8" name="Right Arrow 7"/>
          <p:cNvSpPr/>
          <p:nvPr/>
        </p:nvSpPr>
        <p:spPr>
          <a:xfrm>
            <a:off x="2459736" y="4407408"/>
            <a:ext cx="329184" cy="237744"/>
          </a:xfrm>
          <a:prstGeom prst="rightArrow">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788920" y="4160520"/>
            <a:ext cx="2240280" cy="749808"/>
          </a:xfrm>
          <a:prstGeom prst="roundRect">
            <a:avLst/>
          </a:prstGeom>
          <a:solidFill>
            <a:srgbClr val="172554"/>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88920" y="4160520"/>
            <a:ext cx="2240280" cy="749808"/>
          </a:xfrm>
          <a:prstGeom prst="rect">
            <a:avLst/>
          </a:prstGeom>
          <a:noFill/>
        </p:spPr>
        <p:txBody>
          <a:bodyPr wrap="square" lIns="45720" rIns="45720" anchor="ctr">
            <a:spAutoFit/>
          </a:bodyPr>
          <a:lstStyle/>
          <a:p>
            <a:pPr algn="ctr"/>
            <a:r>
              <a:rPr sz="1300" b="1">
                <a:solidFill>
                  <a:srgbClr val="FFFFFF"/>
                </a:solidFill>
                <a:latin typeface="Aptos"/>
              </a:rPr>
              <a:t>VISION MODEL</a:t>
            </a:r>
          </a:p>
        </p:txBody>
      </p:sp>
      <p:sp>
        <p:nvSpPr>
          <p:cNvPr id="11" name="Right Arrow 10"/>
          <p:cNvSpPr/>
          <p:nvPr/>
        </p:nvSpPr>
        <p:spPr>
          <a:xfrm>
            <a:off x="5193792" y="4407408"/>
            <a:ext cx="329184" cy="237744"/>
          </a:xfrm>
          <a:prstGeom prst="rightArrow">
            <a:avLst/>
          </a:prstGeom>
          <a:solidFill>
            <a:srgbClr val="5EE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596128" y="4160520"/>
            <a:ext cx="4160520" cy="749808"/>
          </a:xfrm>
          <a:prstGeom prst="roundRect">
            <a:avLst/>
          </a:prstGeom>
          <a:solidFill>
            <a:srgbClr val="172554"/>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596128" y="4160520"/>
            <a:ext cx="4160520" cy="749808"/>
          </a:xfrm>
          <a:prstGeom prst="rect">
            <a:avLst/>
          </a:prstGeom>
          <a:noFill/>
        </p:spPr>
        <p:txBody>
          <a:bodyPr wrap="square" lIns="45720" rIns="45720" anchor="ctr">
            <a:spAutoFit/>
          </a:bodyPr>
          <a:lstStyle/>
          <a:p>
            <a:pPr algn="ctr"/>
            <a:r>
              <a:rPr sz="1300" b="1">
                <a:solidFill>
                  <a:srgbClr val="FFFFFF"/>
                </a:solidFill>
                <a:latin typeface="Aptos"/>
              </a:rPr>
              <a:t>CLEAR  /  PARTIAL  /  HEAVY</a:t>
            </a:r>
          </a:p>
        </p:txBody>
      </p:sp>
      <p:sp>
        <p:nvSpPr>
          <p:cNvPr id="14" name="TextBox 13"/>
          <p:cNvSpPr txBox="1"/>
          <p:nvPr/>
        </p:nvSpPr>
        <p:spPr>
          <a:xfrm>
            <a:off x="8705088" y="1051560"/>
            <a:ext cx="2651760" cy="475488"/>
          </a:xfrm>
          <a:prstGeom prst="rect">
            <a:avLst/>
          </a:prstGeom>
          <a:noFill/>
        </p:spPr>
        <p:txBody>
          <a:bodyPr wrap="square" lIns="45720" rIns="45720" anchor="t">
            <a:spAutoFit/>
          </a:bodyPr>
          <a:lstStyle/>
          <a:p>
            <a:pPr algn="r"/>
            <a:r>
              <a:rPr sz="2100" b="1">
                <a:solidFill>
                  <a:srgbClr val="5EEAD4"/>
                </a:solidFill>
                <a:latin typeface="Aptos"/>
              </a:rPr>
              <a:t>3,600 images</a:t>
            </a:r>
          </a:p>
        </p:txBody>
      </p:sp>
      <p:sp>
        <p:nvSpPr>
          <p:cNvPr id="15" name="TextBox 14"/>
          <p:cNvSpPr txBox="1"/>
          <p:nvPr/>
        </p:nvSpPr>
        <p:spPr>
          <a:xfrm>
            <a:off x="8065008" y="1572768"/>
            <a:ext cx="3291840" cy="475488"/>
          </a:xfrm>
          <a:prstGeom prst="rect">
            <a:avLst/>
          </a:prstGeom>
          <a:noFill/>
        </p:spPr>
        <p:txBody>
          <a:bodyPr wrap="square" lIns="45720" rIns="45720" anchor="t">
            <a:spAutoFit/>
          </a:bodyPr>
          <a:lstStyle/>
          <a:p>
            <a:pPr algn="r"/>
            <a:r>
              <a:rPr sz="2100" b="1">
                <a:solidFill>
                  <a:srgbClr val="FFFFFF"/>
                </a:solidFill>
                <a:latin typeface="Aptos"/>
              </a:rPr>
              <a:t>90.5% test accuracy</a:t>
            </a:r>
          </a:p>
        </p:txBody>
      </p:sp>
      <p:sp>
        <p:nvSpPr>
          <p:cNvPr id="16" name="TextBox 15"/>
          <p:cNvSpPr txBox="1"/>
          <p:nvPr/>
        </p:nvSpPr>
        <p:spPr>
          <a:xfrm>
            <a:off x="7882127" y="2084831"/>
            <a:ext cx="3474720" cy="320040"/>
          </a:xfrm>
          <a:prstGeom prst="rect">
            <a:avLst/>
          </a:prstGeom>
          <a:noFill/>
        </p:spPr>
        <p:txBody>
          <a:bodyPr wrap="square" lIns="45720" rIns="45720" anchor="t">
            <a:spAutoFit/>
          </a:bodyPr>
          <a:lstStyle/>
          <a:p>
            <a:pPr algn="r"/>
            <a:r>
              <a:rPr sz="1200" b="0">
                <a:solidFill>
                  <a:srgbClr val="94A3B8"/>
                </a:solidFill>
                <a:latin typeface="Aptos"/>
              </a:rPr>
              <a:t>Validated on all 600 test images</a:t>
            </a:r>
          </a:p>
        </p:txBody>
      </p:sp>
      <p:sp>
        <p:nvSpPr>
          <p:cNvPr id="17" name="TextBox 16"/>
          <p:cNvSpPr txBox="1"/>
          <p:nvPr/>
        </p:nvSpPr>
        <p:spPr>
          <a:xfrm>
            <a:off x="694944" y="6272784"/>
            <a:ext cx="3840480" cy="256032"/>
          </a:xfrm>
          <a:prstGeom prst="rect">
            <a:avLst/>
          </a:prstGeom>
          <a:noFill/>
        </p:spPr>
        <p:txBody>
          <a:bodyPr wrap="square" lIns="45720" rIns="45720" anchor="t">
            <a:spAutoFit/>
          </a:bodyPr>
          <a:lstStyle/>
          <a:p>
            <a:pPr algn="l"/>
            <a:r>
              <a:rPr sz="1000" b="0">
                <a:solidFill>
                  <a:srgbClr val="94A3B8"/>
                </a:solidFill>
                <a:latin typeface="Aptos"/>
              </a:rPr>
              <a:t>Project update  •  August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02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THE PROBLEM</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Why Occlusion Matters</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66928" y="1664208"/>
            <a:ext cx="3493008" cy="24048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visibility-clear.png"/>
          <p:cNvPicPr>
            <a:picLocks noChangeAspect="1"/>
          </p:cNvPicPr>
          <p:nvPr/>
        </p:nvPicPr>
        <p:blipFill>
          <a:blip r:embed="rId2"/>
          <a:srcRect t="7933" b="7933"/>
          <a:stretch>
            <a:fillRect/>
          </a:stretch>
        </p:blipFill>
        <p:spPr>
          <a:xfrm>
            <a:off x="676656" y="1773936"/>
            <a:ext cx="3273552" cy="1572768"/>
          </a:xfrm>
          <a:prstGeom prst="rect">
            <a:avLst/>
          </a:prstGeom>
        </p:spPr>
      </p:pic>
      <p:sp>
        <p:nvSpPr>
          <p:cNvPr id="8" name="TextBox 7"/>
          <p:cNvSpPr txBox="1"/>
          <p:nvPr/>
        </p:nvSpPr>
        <p:spPr>
          <a:xfrm>
            <a:off x="713232" y="3474720"/>
            <a:ext cx="2423160" cy="292608"/>
          </a:xfrm>
          <a:prstGeom prst="rect">
            <a:avLst/>
          </a:prstGeom>
          <a:noFill/>
        </p:spPr>
        <p:txBody>
          <a:bodyPr wrap="square" lIns="45720" rIns="45720" anchor="t">
            <a:spAutoFit/>
          </a:bodyPr>
          <a:lstStyle/>
          <a:p>
            <a:pPr algn="l"/>
            <a:r>
              <a:rPr sz="1200" b="1">
                <a:solidFill>
                  <a:srgbClr val="0F766E"/>
                </a:solidFill>
                <a:latin typeface="Aptos"/>
              </a:rPr>
              <a:t>CLEAR</a:t>
            </a:r>
          </a:p>
        </p:txBody>
      </p:sp>
      <p:sp>
        <p:nvSpPr>
          <p:cNvPr id="9" name="TextBox 8"/>
          <p:cNvSpPr txBox="1"/>
          <p:nvPr/>
        </p:nvSpPr>
        <p:spPr>
          <a:xfrm>
            <a:off x="2898648" y="3474720"/>
            <a:ext cx="1005840" cy="292608"/>
          </a:xfrm>
          <a:prstGeom prst="rect">
            <a:avLst/>
          </a:prstGeom>
          <a:noFill/>
        </p:spPr>
        <p:txBody>
          <a:bodyPr wrap="square" lIns="45720" rIns="45720" anchor="t">
            <a:spAutoFit/>
          </a:bodyPr>
          <a:lstStyle/>
          <a:p>
            <a:pPr algn="r"/>
            <a:r>
              <a:rPr sz="1000" b="0">
                <a:solidFill>
                  <a:srgbClr val="64748B"/>
                </a:solidFill>
                <a:latin typeface="Aptos"/>
              </a:rPr>
              <a:t>~0% occluded</a:t>
            </a:r>
          </a:p>
        </p:txBody>
      </p:sp>
      <p:sp>
        <p:nvSpPr>
          <p:cNvPr id="10" name="Rounded Rectangle 9"/>
          <p:cNvSpPr/>
          <p:nvPr/>
        </p:nvSpPr>
        <p:spPr>
          <a:xfrm>
            <a:off x="4425696" y="1664208"/>
            <a:ext cx="3493008" cy="24048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visibility-partial.png"/>
          <p:cNvPicPr>
            <a:picLocks noChangeAspect="1"/>
          </p:cNvPicPr>
          <p:nvPr/>
        </p:nvPicPr>
        <p:blipFill>
          <a:blip r:embed="rId3"/>
          <a:srcRect t="7933" b="7933"/>
          <a:stretch>
            <a:fillRect/>
          </a:stretch>
        </p:blipFill>
        <p:spPr>
          <a:xfrm>
            <a:off x="4535424" y="1773936"/>
            <a:ext cx="3273552" cy="1572768"/>
          </a:xfrm>
          <a:prstGeom prst="rect">
            <a:avLst/>
          </a:prstGeom>
        </p:spPr>
      </p:pic>
      <p:sp>
        <p:nvSpPr>
          <p:cNvPr id="12" name="TextBox 11"/>
          <p:cNvSpPr txBox="1"/>
          <p:nvPr/>
        </p:nvSpPr>
        <p:spPr>
          <a:xfrm>
            <a:off x="4572000" y="3474720"/>
            <a:ext cx="2423160" cy="292608"/>
          </a:xfrm>
          <a:prstGeom prst="rect">
            <a:avLst/>
          </a:prstGeom>
          <a:noFill/>
        </p:spPr>
        <p:txBody>
          <a:bodyPr wrap="square" lIns="45720" rIns="45720" anchor="t">
            <a:spAutoFit/>
          </a:bodyPr>
          <a:lstStyle/>
          <a:p>
            <a:pPr algn="l"/>
            <a:r>
              <a:rPr sz="1200" b="1">
                <a:solidFill>
                  <a:srgbClr val="F97316"/>
                </a:solidFill>
                <a:latin typeface="Aptos"/>
              </a:rPr>
              <a:t>PARTIALLY OCCLUDED</a:t>
            </a:r>
          </a:p>
        </p:txBody>
      </p:sp>
      <p:sp>
        <p:nvSpPr>
          <p:cNvPr id="13" name="TextBox 12"/>
          <p:cNvSpPr txBox="1"/>
          <p:nvPr/>
        </p:nvSpPr>
        <p:spPr>
          <a:xfrm>
            <a:off x="6757416" y="3474720"/>
            <a:ext cx="1005840" cy="292608"/>
          </a:xfrm>
          <a:prstGeom prst="rect">
            <a:avLst/>
          </a:prstGeom>
          <a:noFill/>
        </p:spPr>
        <p:txBody>
          <a:bodyPr wrap="square" lIns="45720" rIns="45720" anchor="t">
            <a:spAutoFit/>
          </a:bodyPr>
          <a:lstStyle/>
          <a:p>
            <a:pPr algn="r"/>
            <a:r>
              <a:rPr sz="1000" b="0">
                <a:solidFill>
                  <a:srgbClr val="64748B"/>
                </a:solidFill>
                <a:latin typeface="Aptos"/>
              </a:rPr>
              <a:t>~25% occluded</a:t>
            </a:r>
          </a:p>
        </p:txBody>
      </p:sp>
      <p:sp>
        <p:nvSpPr>
          <p:cNvPr id="14" name="Rounded Rectangle 13"/>
          <p:cNvSpPr/>
          <p:nvPr/>
        </p:nvSpPr>
        <p:spPr>
          <a:xfrm>
            <a:off x="8284463" y="1664208"/>
            <a:ext cx="3493008" cy="240487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visibility-heavy.png"/>
          <p:cNvPicPr>
            <a:picLocks noChangeAspect="1"/>
          </p:cNvPicPr>
          <p:nvPr/>
        </p:nvPicPr>
        <p:blipFill>
          <a:blip r:embed="rId4"/>
          <a:srcRect t="7933" b="7933"/>
          <a:stretch>
            <a:fillRect/>
          </a:stretch>
        </p:blipFill>
        <p:spPr>
          <a:xfrm>
            <a:off x="8394191" y="1773936"/>
            <a:ext cx="3273552" cy="1572768"/>
          </a:xfrm>
          <a:prstGeom prst="rect">
            <a:avLst/>
          </a:prstGeom>
        </p:spPr>
      </p:pic>
      <p:sp>
        <p:nvSpPr>
          <p:cNvPr id="16" name="TextBox 15"/>
          <p:cNvSpPr txBox="1"/>
          <p:nvPr/>
        </p:nvSpPr>
        <p:spPr>
          <a:xfrm>
            <a:off x="8430767" y="3474720"/>
            <a:ext cx="2423160" cy="292608"/>
          </a:xfrm>
          <a:prstGeom prst="rect">
            <a:avLst/>
          </a:prstGeom>
          <a:noFill/>
        </p:spPr>
        <p:txBody>
          <a:bodyPr wrap="square" lIns="45720" rIns="45720" anchor="t">
            <a:spAutoFit/>
          </a:bodyPr>
          <a:lstStyle/>
          <a:p>
            <a:pPr algn="l"/>
            <a:r>
              <a:rPr sz="1200" b="1">
                <a:solidFill>
                  <a:srgbClr val="0F172A"/>
                </a:solidFill>
                <a:latin typeface="Aptos"/>
              </a:rPr>
              <a:t>HEAVILY OCCLUDED</a:t>
            </a:r>
          </a:p>
        </p:txBody>
      </p:sp>
      <p:sp>
        <p:nvSpPr>
          <p:cNvPr id="17" name="TextBox 16"/>
          <p:cNvSpPr txBox="1"/>
          <p:nvPr/>
        </p:nvSpPr>
        <p:spPr>
          <a:xfrm>
            <a:off x="10616184" y="3474720"/>
            <a:ext cx="1005840" cy="292608"/>
          </a:xfrm>
          <a:prstGeom prst="rect">
            <a:avLst/>
          </a:prstGeom>
          <a:noFill/>
        </p:spPr>
        <p:txBody>
          <a:bodyPr wrap="square" lIns="45720" rIns="45720" anchor="t">
            <a:spAutoFit/>
          </a:bodyPr>
          <a:lstStyle/>
          <a:p>
            <a:pPr algn="r"/>
            <a:r>
              <a:rPr sz="1000" b="0">
                <a:solidFill>
                  <a:srgbClr val="64748B"/>
                </a:solidFill>
                <a:latin typeface="Aptos"/>
              </a:rPr>
              <a:t>~50% occluded</a:t>
            </a:r>
          </a:p>
        </p:txBody>
      </p:sp>
      <p:sp>
        <p:nvSpPr>
          <p:cNvPr id="18" name="TextBox 17"/>
          <p:cNvSpPr txBox="1"/>
          <p:nvPr/>
        </p:nvSpPr>
        <p:spPr>
          <a:xfrm>
            <a:off x="658368" y="4096512"/>
            <a:ext cx="4937760" cy="228600"/>
          </a:xfrm>
          <a:prstGeom prst="rect">
            <a:avLst/>
          </a:prstGeom>
          <a:noFill/>
        </p:spPr>
        <p:txBody>
          <a:bodyPr wrap="square" lIns="45720" rIns="45720" anchor="t">
            <a:spAutoFit/>
          </a:bodyPr>
          <a:lstStyle/>
          <a:p>
            <a:pPr algn="l"/>
            <a:r>
              <a:rPr sz="900" b="0">
                <a:solidFill>
                  <a:srgbClr val="64748B"/>
                </a:solidFill>
                <a:latin typeface="Aptos"/>
              </a:rPr>
              <a:t>Illustrative visibility levels using one project image</a:t>
            </a:r>
          </a:p>
        </p:txBody>
      </p:sp>
      <p:sp>
        <p:nvSpPr>
          <p:cNvPr id="19" name="Rounded Rectangle 18"/>
          <p:cNvSpPr/>
          <p:nvPr/>
        </p:nvSpPr>
        <p:spPr>
          <a:xfrm>
            <a:off x="621792" y="4517136"/>
            <a:ext cx="5230368" cy="1389888"/>
          </a:xfrm>
          <a:prstGeom prst="roundRect">
            <a:avLst/>
          </a:prstGeom>
          <a:solidFill>
            <a:srgbClr val="FFFFFF"/>
          </a:solidFill>
          <a:ln w="12700">
            <a:solidFill>
              <a:srgbClr val="E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8" y="4718304"/>
            <a:ext cx="2011680" cy="274320"/>
          </a:xfrm>
          <a:prstGeom prst="rect">
            <a:avLst/>
          </a:prstGeom>
          <a:noFill/>
        </p:spPr>
        <p:txBody>
          <a:bodyPr wrap="square" lIns="45720" rIns="45720" anchor="t">
            <a:spAutoFit/>
          </a:bodyPr>
          <a:lstStyle/>
          <a:p>
            <a:pPr algn="l"/>
            <a:r>
              <a:rPr sz="1100" b="1">
                <a:solidFill>
                  <a:srgbClr val="0284C7"/>
                </a:solidFill>
                <a:latin typeface="Aptos"/>
              </a:rPr>
              <a:t>THE PROBLEM</a:t>
            </a:r>
          </a:p>
        </p:txBody>
      </p:sp>
      <p:sp>
        <p:nvSpPr>
          <p:cNvPr id="21" name="TextBox 20"/>
          <p:cNvSpPr txBox="1"/>
          <p:nvPr/>
        </p:nvSpPr>
        <p:spPr>
          <a:xfrm>
            <a:off x="841248" y="5065776"/>
            <a:ext cx="4617720" cy="566928"/>
          </a:xfrm>
          <a:prstGeom prst="rect">
            <a:avLst/>
          </a:prstGeom>
          <a:noFill/>
        </p:spPr>
        <p:txBody>
          <a:bodyPr wrap="square" lIns="45720" rIns="45720" anchor="t">
            <a:spAutoFit/>
          </a:bodyPr>
          <a:lstStyle/>
          <a:p>
            <a:pPr algn="l"/>
            <a:r>
              <a:rPr sz="1600" b="1">
                <a:solidFill>
                  <a:srgbClr val="0F172A"/>
                </a:solidFill>
                <a:latin typeface="Aptos"/>
              </a:rPr>
              <a:t>Objects are often blocked by other objects, making visual recognition harder.</a:t>
            </a:r>
          </a:p>
        </p:txBody>
      </p:sp>
      <p:sp>
        <p:nvSpPr>
          <p:cNvPr id="22" name="Rounded Rectangle 21"/>
          <p:cNvSpPr/>
          <p:nvPr/>
        </p:nvSpPr>
        <p:spPr>
          <a:xfrm>
            <a:off x="6144768" y="4517136"/>
            <a:ext cx="5413248" cy="1389888"/>
          </a:xfrm>
          <a:prstGeom prst="roundRect">
            <a:avLst/>
          </a:prstGeom>
          <a:solidFill>
            <a:srgbClr val="CCFBF1"/>
          </a:solidFill>
          <a:ln w="12700">
            <a:solidFill>
              <a:srgbClr val="CCF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82512" y="4718304"/>
            <a:ext cx="2103120" cy="274320"/>
          </a:xfrm>
          <a:prstGeom prst="rect">
            <a:avLst/>
          </a:prstGeom>
          <a:noFill/>
        </p:spPr>
        <p:txBody>
          <a:bodyPr wrap="square" lIns="45720" rIns="45720" anchor="t">
            <a:spAutoFit/>
          </a:bodyPr>
          <a:lstStyle/>
          <a:p>
            <a:pPr algn="l"/>
            <a:r>
              <a:rPr sz="1100" b="1">
                <a:solidFill>
                  <a:srgbClr val="0F766E"/>
                </a:solidFill>
                <a:latin typeface="Aptos"/>
              </a:rPr>
              <a:t>PICKSENSE ASKS</a:t>
            </a:r>
          </a:p>
        </p:txBody>
      </p:sp>
      <p:sp>
        <p:nvSpPr>
          <p:cNvPr id="24" name="TextBox 23"/>
          <p:cNvSpPr txBox="1"/>
          <p:nvPr/>
        </p:nvSpPr>
        <p:spPr>
          <a:xfrm>
            <a:off x="6382512" y="5065776"/>
            <a:ext cx="4754880" cy="566928"/>
          </a:xfrm>
          <a:prstGeom prst="rect">
            <a:avLst/>
          </a:prstGeom>
          <a:noFill/>
        </p:spPr>
        <p:txBody>
          <a:bodyPr wrap="square" lIns="45720" rIns="45720" anchor="t">
            <a:spAutoFit/>
          </a:bodyPr>
          <a:lstStyle/>
          <a:p>
            <a:pPr algn="l"/>
            <a:r>
              <a:rPr sz="1600" b="1">
                <a:solidFill>
                  <a:srgbClr val="0F172A"/>
                </a:solidFill>
                <a:latin typeface="Aptos"/>
              </a:rPr>
              <a:t>How well can a vision model determine the level of object occlusion?</a:t>
            </a:r>
          </a:p>
        </p:txBody>
      </p:sp>
      <p:sp>
        <p:nvSpPr>
          <p:cNvPr id="25" name="TextBox 24"/>
          <p:cNvSpPr txBox="1"/>
          <p:nvPr/>
        </p:nvSpPr>
        <p:spPr>
          <a:xfrm>
            <a:off x="6382512" y="5669280"/>
            <a:ext cx="4663440" cy="256032"/>
          </a:xfrm>
          <a:prstGeom prst="rect">
            <a:avLst/>
          </a:prstGeom>
          <a:noFill/>
        </p:spPr>
        <p:txBody>
          <a:bodyPr wrap="square" lIns="45720" rIns="45720" anchor="t">
            <a:spAutoFit/>
          </a:bodyPr>
          <a:lstStyle/>
          <a:p>
            <a:pPr algn="l"/>
            <a:r>
              <a:rPr sz="1000" b="1">
                <a:solidFill>
                  <a:srgbClr val="DC2626"/>
                </a:solidFill>
                <a:latin typeface="Aptos"/>
              </a:rPr>
              <a:t>Scope: visibility classification, not grasp-success prediction.</a:t>
            </a:r>
          </a:p>
        </p:txBody>
      </p:sp>
      <p:sp>
        <p:nvSpPr>
          <p:cNvPr id="26" name="TextBox 25"/>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03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PROJECT ARCHITECTURE</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PickSense ML Pipeline</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30352" y="1828800"/>
            <a:ext cx="1938528" cy="3236976"/>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76656" y="1975104"/>
            <a:ext cx="438912" cy="438912"/>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01</a:t>
            </a:r>
          </a:p>
        </p:txBody>
      </p:sp>
      <p:sp>
        <p:nvSpPr>
          <p:cNvPr id="8" name="TextBox 7"/>
          <p:cNvSpPr txBox="1"/>
          <p:nvPr/>
        </p:nvSpPr>
        <p:spPr>
          <a:xfrm>
            <a:off x="676656" y="2596896"/>
            <a:ext cx="1645920" cy="310896"/>
          </a:xfrm>
          <a:prstGeom prst="rect">
            <a:avLst/>
          </a:prstGeom>
          <a:noFill/>
        </p:spPr>
        <p:txBody>
          <a:bodyPr wrap="square" lIns="45720" rIns="45720" anchor="t">
            <a:spAutoFit/>
          </a:bodyPr>
          <a:lstStyle/>
          <a:p>
            <a:pPr algn="l"/>
            <a:r>
              <a:rPr sz="1400" b="1">
                <a:solidFill>
                  <a:srgbClr val="0F172A"/>
                </a:solidFill>
                <a:latin typeface="Aptos"/>
              </a:rPr>
              <a:t>DATA</a:t>
            </a:r>
          </a:p>
        </p:txBody>
      </p:sp>
      <p:sp>
        <p:nvSpPr>
          <p:cNvPr id="9" name="TextBox 8"/>
          <p:cNvSpPr txBox="1"/>
          <p:nvPr/>
        </p:nvSpPr>
        <p:spPr>
          <a:xfrm>
            <a:off x="676656" y="3127248"/>
            <a:ext cx="1627632" cy="1417320"/>
          </a:xfrm>
          <a:prstGeom prst="rect">
            <a:avLst/>
          </a:prstGeom>
          <a:noFill/>
        </p:spPr>
        <p:txBody>
          <a:bodyPr wrap="square" lIns="73152" rIns="73152" tIns="36576" bIns="36576">
            <a:spAutoFit/>
          </a:bodyPr>
          <a:lstStyle/>
          <a:p>
            <a:pPr>
              <a:spcAft>
                <a:spcPts val="900"/>
              </a:spcAft>
              <a:defRPr sz="1100">
                <a:solidFill>
                  <a:srgbClr val="334155"/>
                </a:solidFill>
                <a:latin typeface="Aptos"/>
              </a:defRPr>
            </a:pPr>
            <a:r>
              <a:t>•  OpenLORIS</a:t>
            </a:r>
          </a:p>
          <a:p>
            <a:pPr>
              <a:spcAft>
                <a:spcPts val="900"/>
              </a:spcAft>
              <a:defRPr sz="1100">
                <a:solidFill>
                  <a:srgbClr val="334155"/>
                </a:solidFill>
                <a:latin typeface="Aptos"/>
              </a:defRPr>
            </a:pPr>
            <a:r>
              <a:t>•  Google Drive</a:t>
            </a:r>
          </a:p>
          <a:p>
            <a:pPr>
              <a:spcAft>
                <a:spcPts val="900"/>
              </a:spcAft>
              <a:defRPr sz="1100">
                <a:solidFill>
                  <a:srgbClr val="334155"/>
                </a:solidFill>
                <a:latin typeface="Aptos"/>
              </a:defRPr>
            </a:pPr>
            <a:r>
              <a:t>•  Class labels</a:t>
            </a:r>
          </a:p>
        </p:txBody>
      </p:sp>
      <p:sp>
        <p:nvSpPr>
          <p:cNvPr id="10" name="Right Arrow 9"/>
          <p:cNvSpPr/>
          <p:nvPr/>
        </p:nvSpPr>
        <p:spPr>
          <a:xfrm>
            <a:off x="2505456" y="3200400"/>
            <a:ext cx="27432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843784" y="1828800"/>
            <a:ext cx="1938528" cy="3236976"/>
          </a:xfrm>
          <a:prstGeom prst="roundRect">
            <a:avLst/>
          </a:prstGeom>
          <a:solidFill>
            <a:srgbClr val="FFFFFF"/>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990088" y="1975104"/>
            <a:ext cx="438912" cy="438912"/>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02</a:t>
            </a:r>
          </a:p>
        </p:txBody>
      </p:sp>
      <p:sp>
        <p:nvSpPr>
          <p:cNvPr id="13" name="TextBox 12"/>
          <p:cNvSpPr txBox="1"/>
          <p:nvPr/>
        </p:nvSpPr>
        <p:spPr>
          <a:xfrm>
            <a:off x="2990088" y="2596896"/>
            <a:ext cx="1645920" cy="310896"/>
          </a:xfrm>
          <a:prstGeom prst="rect">
            <a:avLst/>
          </a:prstGeom>
          <a:noFill/>
        </p:spPr>
        <p:txBody>
          <a:bodyPr wrap="square" lIns="45720" rIns="45720" anchor="t">
            <a:spAutoFit/>
          </a:bodyPr>
          <a:lstStyle/>
          <a:p>
            <a:pPr algn="l"/>
            <a:r>
              <a:rPr sz="1400" b="1">
                <a:solidFill>
                  <a:srgbClr val="0F172A"/>
                </a:solidFill>
                <a:latin typeface="Aptos"/>
              </a:rPr>
              <a:t>LOADING</a:t>
            </a:r>
          </a:p>
        </p:txBody>
      </p:sp>
      <p:sp>
        <p:nvSpPr>
          <p:cNvPr id="14" name="TextBox 13"/>
          <p:cNvSpPr txBox="1"/>
          <p:nvPr/>
        </p:nvSpPr>
        <p:spPr>
          <a:xfrm>
            <a:off x="2990088" y="3127248"/>
            <a:ext cx="1627632" cy="1417320"/>
          </a:xfrm>
          <a:prstGeom prst="rect">
            <a:avLst/>
          </a:prstGeom>
          <a:noFill/>
        </p:spPr>
        <p:txBody>
          <a:bodyPr wrap="square" lIns="73152" rIns="73152" tIns="36576" bIns="36576">
            <a:spAutoFit/>
          </a:bodyPr>
          <a:lstStyle/>
          <a:p>
            <a:pPr>
              <a:spcAft>
                <a:spcPts val="900"/>
              </a:spcAft>
              <a:defRPr sz="1100">
                <a:solidFill>
                  <a:srgbClr val="334155"/>
                </a:solidFill>
                <a:latin typeface="Aptos"/>
              </a:defRPr>
            </a:pPr>
            <a:r>
              <a:t>•  ImageFolder</a:t>
            </a:r>
          </a:p>
          <a:p>
            <a:pPr>
              <a:spcAft>
                <a:spcPts val="900"/>
              </a:spcAft>
              <a:defRPr sz="1100">
                <a:solidFill>
                  <a:srgbClr val="334155"/>
                </a:solidFill>
                <a:latin typeface="Aptos"/>
              </a:defRPr>
            </a:pPr>
            <a:r>
              <a:t>•  DataLoader</a:t>
            </a:r>
          </a:p>
          <a:p>
            <a:pPr>
              <a:spcAft>
                <a:spcPts val="900"/>
              </a:spcAft>
              <a:defRPr sz="1100">
                <a:solidFill>
                  <a:srgbClr val="334155"/>
                </a:solidFill>
                <a:latin typeface="Aptos"/>
              </a:defRPr>
            </a:pPr>
            <a:r>
              <a:t>•  Batching</a:t>
            </a:r>
          </a:p>
        </p:txBody>
      </p:sp>
      <p:sp>
        <p:nvSpPr>
          <p:cNvPr id="15" name="Right Arrow 14"/>
          <p:cNvSpPr/>
          <p:nvPr/>
        </p:nvSpPr>
        <p:spPr>
          <a:xfrm>
            <a:off x="4818888" y="3200400"/>
            <a:ext cx="27432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157216" y="1828800"/>
            <a:ext cx="1938528" cy="3236976"/>
          </a:xfrm>
          <a:prstGeom prst="roundRect">
            <a:avLst/>
          </a:prstGeom>
          <a:solidFill>
            <a:srgbClr val="FFFFFF"/>
          </a:solidFill>
          <a:ln w="1905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5303520" y="1975104"/>
            <a:ext cx="438912" cy="438912"/>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03</a:t>
            </a:r>
          </a:p>
        </p:txBody>
      </p:sp>
      <p:sp>
        <p:nvSpPr>
          <p:cNvPr id="18" name="TextBox 17"/>
          <p:cNvSpPr txBox="1"/>
          <p:nvPr/>
        </p:nvSpPr>
        <p:spPr>
          <a:xfrm>
            <a:off x="5303520" y="2596896"/>
            <a:ext cx="1645920" cy="310896"/>
          </a:xfrm>
          <a:prstGeom prst="rect">
            <a:avLst/>
          </a:prstGeom>
          <a:noFill/>
        </p:spPr>
        <p:txBody>
          <a:bodyPr wrap="square" lIns="45720" rIns="45720" anchor="t">
            <a:spAutoFit/>
          </a:bodyPr>
          <a:lstStyle/>
          <a:p>
            <a:pPr algn="l"/>
            <a:r>
              <a:rPr sz="1400" b="1">
                <a:solidFill>
                  <a:srgbClr val="0F172A"/>
                </a:solidFill>
                <a:latin typeface="Aptos"/>
              </a:rPr>
              <a:t>MODEL</a:t>
            </a:r>
          </a:p>
        </p:txBody>
      </p:sp>
      <p:sp>
        <p:nvSpPr>
          <p:cNvPr id="19" name="TextBox 18"/>
          <p:cNvSpPr txBox="1"/>
          <p:nvPr/>
        </p:nvSpPr>
        <p:spPr>
          <a:xfrm>
            <a:off x="5303520" y="3127248"/>
            <a:ext cx="1627632" cy="1417320"/>
          </a:xfrm>
          <a:prstGeom prst="rect">
            <a:avLst/>
          </a:prstGeom>
          <a:noFill/>
        </p:spPr>
        <p:txBody>
          <a:bodyPr wrap="square" lIns="73152" rIns="73152" tIns="36576" bIns="36576">
            <a:spAutoFit/>
          </a:bodyPr>
          <a:lstStyle/>
          <a:p>
            <a:pPr>
              <a:spcAft>
                <a:spcPts val="900"/>
              </a:spcAft>
              <a:defRPr sz="1100">
                <a:solidFill>
                  <a:srgbClr val="334155"/>
                </a:solidFill>
                <a:latin typeface="Aptos"/>
              </a:defRPr>
            </a:pPr>
            <a:r>
              <a:t>•  ViT from scratch</a:t>
            </a:r>
          </a:p>
          <a:p>
            <a:pPr>
              <a:spcAft>
                <a:spcPts val="900"/>
              </a:spcAft>
              <a:defRPr sz="1100">
                <a:solidFill>
                  <a:srgbClr val="334155"/>
                </a:solidFill>
                <a:latin typeface="Aptos"/>
              </a:defRPr>
            </a:pPr>
            <a:r>
              <a:t>•  Pretrained ViT</a:t>
            </a:r>
          </a:p>
          <a:p>
            <a:pPr>
              <a:spcAft>
                <a:spcPts val="900"/>
              </a:spcAft>
              <a:defRPr sz="1100">
                <a:solidFill>
                  <a:srgbClr val="334155"/>
                </a:solidFill>
                <a:latin typeface="Aptos"/>
              </a:defRPr>
            </a:pPr>
            <a:r>
              <a:t>•  3-class head</a:t>
            </a:r>
          </a:p>
        </p:txBody>
      </p:sp>
      <p:sp>
        <p:nvSpPr>
          <p:cNvPr id="20" name="Right Arrow 19"/>
          <p:cNvSpPr/>
          <p:nvPr/>
        </p:nvSpPr>
        <p:spPr>
          <a:xfrm>
            <a:off x="7132320" y="3200400"/>
            <a:ext cx="27432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470648" y="1828800"/>
            <a:ext cx="1938528" cy="3236976"/>
          </a:xfrm>
          <a:prstGeom prst="roundRect">
            <a:avLst/>
          </a:prstGeom>
          <a:solidFill>
            <a:srgbClr val="FFFFFF"/>
          </a:solidFill>
          <a:ln w="1905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7616952" y="1975104"/>
            <a:ext cx="438912" cy="438912"/>
          </a:xfrm>
          <a:prstGeom prst="ellipse">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04</a:t>
            </a:r>
          </a:p>
        </p:txBody>
      </p:sp>
      <p:sp>
        <p:nvSpPr>
          <p:cNvPr id="23" name="TextBox 22"/>
          <p:cNvSpPr txBox="1"/>
          <p:nvPr/>
        </p:nvSpPr>
        <p:spPr>
          <a:xfrm>
            <a:off x="7616952" y="2596896"/>
            <a:ext cx="1645920" cy="310896"/>
          </a:xfrm>
          <a:prstGeom prst="rect">
            <a:avLst/>
          </a:prstGeom>
          <a:noFill/>
        </p:spPr>
        <p:txBody>
          <a:bodyPr wrap="square" lIns="45720" rIns="45720" anchor="t">
            <a:spAutoFit/>
          </a:bodyPr>
          <a:lstStyle/>
          <a:p>
            <a:pPr algn="l"/>
            <a:r>
              <a:rPr sz="1400" b="1">
                <a:solidFill>
                  <a:srgbClr val="0F172A"/>
                </a:solidFill>
                <a:latin typeface="Aptos"/>
              </a:rPr>
              <a:t>TRAINING</a:t>
            </a:r>
          </a:p>
        </p:txBody>
      </p:sp>
      <p:sp>
        <p:nvSpPr>
          <p:cNvPr id="24" name="TextBox 23"/>
          <p:cNvSpPr txBox="1"/>
          <p:nvPr/>
        </p:nvSpPr>
        <p:spPr>
          <a:xfrm>
            <a:off x="7616952" y="3127248"/>
            <a:ext cx="1627632" cy="1417320"/>
          </a:xfrm>
          <a:prstGeom prst="rect">
            <a:avLst/>
          </a:prstGeom>
          <a:noFill/>
        </p:spPr>
        <p:txBody>
          <a:bodyPr wrap="square" lIns="73152" rIns="73152" tIns="36576" bIns="36576">
            <a:spAutoFit/>
          </a:bodyPr>
          <a:lstStyle/>
          <a:p>
            <a:pPr>
              <a:spcAft>
                <a:spcPts val="900"/>
              </a:spcAft>
              <a:defRPr sz="1100">
                <a:solidFill>
                  <a:srgbClr val="334155"/>
                </a:solidFill>
                <a:latin typeface="Aptos"/>
              </a:defRPr>
            </a:pPr>
            <a:r>
              <a:t>•  Cross entropy</a:t>
            </a:r>
          </a:p>
          <a:p>
            <a:pPr>
              <a:spcAft>
                <a:spcPts val="900"/>
              </a:spcAft>
              <a:defRPr sz="1100">
                <a:solidFill>
                  <a:srgbClr val="334155"/>
                </a:solidFill>
                <a:latin typeface="Aptos"/>
              </a:defRPr>
            </a:pPr>
            <a:r>
              <a:t>•  AdamW</a:t>
            </a:r>
          </a:p>
          <a:p>
            <a:pPr>
              <a:spcAft>
                <a:spcPts val="900"/>
              </a:spcAft>
              <a:defRPr sz="1100">
                <a:solidFill>
                  <a:srgbClr val="334155"/>
                </a:solidFill>
                <a:latin typeface="Aptos"/>
              </a:defRPr>
            </a:pPr>
            <a:r>
              <a:t>•  GPU / Colab</a:t>
            </a:r>
          </a:p>
        </p:txBody>
      </p:sp>
      <p:sp>
        <p:nvSpPr>
          <p:cNvPr id="25" name="Right Arrow 24"/>
          <p:cNvSpPr/>
          <p:nvPr/>
        </p:nvSpPr>
        <p:spPr>
          <a:xfrm>
            <a:off x="9445752" y="3200400"/>
            <a:ext cx="274320" cy="219456"/>
          </a:xfrm>
          <a:prstGeom prst="rightArrow">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9784080" y="1828800"/>
            <a:ext cx="1938528" cy="3236976"/>
          </a:xfrm>
          <a:prstGeom prst="roundRect">
            <a:avLst/>
          </a:prstGeom>
          <a:solidFill>
            <a:srgbClr val="FFFFFF"/>
          </a:solidFill>
          <a:ln w="19050">
            <a:solidFill>
              <a:srgbClr val="16A3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930384" y="1975104"/>
            <a:ext cx="438912" cy="438912"/>
          </a:xfrm>
          <a:prstGeom prst="ellipse">
            <a:avLst/>
          </a:prstGeom>
          <a:solidFill>
            <a:srgbClr val="16A3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200" b="1">
                <a:solidFill>
                  <a:srgbClr val="FFFFFF"/>
                </a:solidFill>
                <a:latin typeface="Aptos Display"/>
              </a:rPr>
              <a:t>05</a:t>
            </a:r>
          </a:p>
        </p:txBody>
      </p:sp>
      <p:sp>
        <p:nvSpPr>
          <p:cNvPr id="28" name="TextBox 27"/>
          <p:cNvSpPr txBox="1"/>
          <p:nvPr/>
        </p:nvSpPr>
        <p:spPr>
          <a:xfrm>
            <a:off x="9930384" y="2596896"/>
            <a:ext cx="1645920" cy="310896"/>
          </a:xfrm>
          <a:prstGeom prst="rect">
            <a:avLst/>
          </a:prstGeom>
          <a:noFill/>
        </p:spPr>
        <p:txBody>
          <a:bodyPr wrap="square" lIns="45720" rIns="45720" anchor="t">
            <a:spAutoFit/>
          </a:bodyPr>
          <a:lstStyle/>
          <a:p>
            <a:pPr algn="l"/>
            <a:r>
              <a:rPr sz="1400" b="1">
                <a:solidFill>
                  <a:srgbClr val="0F172A"/>
                </a:solidFill>
                <a:latin typeface="Aptos"/>
              </a:rPr>
              <a:t>EVALUATION</a:t>
            </a:r>
          </a:p>
        </p:txBody>
      </p:sp>
      <p:sp>
        <p:nvSpPr>
          <p:cNvPr id="29" name="TextBox 28"/>
          <p:cNvSpPr txBox="1"/>
          <p:nvPr/>
        </p:nvSpPr>
        <p:spPr>
          <a:xfrm>
            <a:off x="9930384" y="3127248"/>
            <a:ext cx="1627632" cy="1417320"/>
          </a:xfrm>
          <a:prstGeom prst="rect">
            <a:avLst/>
          </a:prstGeom>
          <a:noFill/>
        </p:spPr>
        <p:txBody>
          <a:bodyPr wrap="square" lIns="73152" rIns="73152" tIns="36576" bIns="36576">
            <a:spAutoFit/>
          </a:bodyPr>
          <a:lstStyle/>
          <a:p>
            <a:pPr>
              <a:spcAft>
                <a:spcPts val="900"/>
              </a:spcAft>
              <a:defRPr sz="1100">
                <a:solidFill>
                  <a:srgbClr val="334155"/>
                </a:solidFill>
                <a:latin typeface="Aptos"/>
              </a:defRPr>
            </a:pPr>
            <a:r>
              <a:t>•  Accuracy</a:t>
            </a:r>
          </a:p>
          <a:p>
            <a:pPr>
              <a:spcAft>
                <a:spcPts val="900"/>
              </a:spcAft>
              <a:defRPr sz="1100">
                <a:solidFill>
                  <a:srgbClr val="334155"/>
                </a:solidFill>
                <a:latin typeface="Aptos"/>
              </a:defRPr>
            </a:pPr>
            <a:r>
              <a:t>•  Confusion matrix</a:t>
            </a:r>
          </a:p>
          <a:p>
            <a:pPr>
              <a:spcAft>
                <a:spcPts val="900"/>
              </a:spcAft>
              <a:defRPr sz="1100">
                <a:solidFill>
                  <a:srgbClr val="334155"/>
                </a:solidFill>
                <a:latin typeface="Aptos"/>
              </a:defRPr>
            </a:pPr>
            <a:r>
              <a:t>•  Predictions</a:t>
            </a:r>
          </a:p>
        </p:txBody>
      </p:sp>
      <p:sp>
        <p:nvSpPr>
          <p:cNvPr id="30" name="Rounded Rectangle 29"/>
          <p:cNvSpPr/>
          <p:nvPr/>
        </p:nvSpPr>
        <p:spPr>
          <a:xfrm>
            <a:off x="1481328" y="5413248"/>
            <a:ext cx="9189720" cy="658368"/>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609344" y="5413248"/>
            <a:ext cx="8924544" cy="658368"/>
          </a:xfrm>
          <a:prstGeom prst="rect">
            <a:avLst/>
          </a:prstGeom>
          <a:noFill/>
        </p:spPr>
        <p:txBody>
          <a:bodyPr wrap="square" lIns="45720" rIns="45720" anchor="ctr">
            <a:spAutoFit/>
          </a:bodyPr>
          <a:lstStyle/>
          <a:p>
            <a:pPr algn="ctr"/>
            <a:r>
              <a:rPr sz="1300" b="1">
                <a:solidFill>
                  <a:srgbClr val="FFFFFF"/>
                </a:solidFill>
                <a:latin typeface="Aptos"/>
              </a:rPr>
              <a:t>OpenLORIS  →  persistent data  →  reproducible batches  →  two ViT paths  →  full test-set evidence</a:t>
            </a:r>
          </a:p>
        </p:txBody>
      </p:sp>
      <p:sp>
        <p:nvSpPr>
          <p:cNvPr id="32" name="TextBox 31"/>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04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DATA PIPELINE</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Data Infrastructure That Survives Colab</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94944" y="1719072"/>
            <a:ext cx="384048" cy="384048"/>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1</a:t>
            </a:r>
          </a:p>
        </p:txBody>
      </p:sp>
      <p:sp>
        <p:nvSpPr>
          <p:cNvPr id="7" name="Rounded Rectangle 6"/>
          <p:cNvSpPr/>
          <p:nvPr/>
        </p:nvSpPr>
        <p:spPr>
          <a:xfrm>
            <a:off x="1243584" y="1700784"/>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1700784"/>
            <a:ext cx="2761488" cy="438912"/>
          </a:xfrm>
          <a:prstGeom prst="rect">
            <a:avLst/>
          </a:prstGeom>
          <a:noFill/>
        </p:spPr>
        <p:txBody>
          <a:bodyPr wrap="square" lIns="45720" rIns="45720" anchor="ctr">
            <a:spAutoFit/>
          </a:bodyPr>
          <a:lstStyle/>
          <a:p>
            <a:pPr algn="l"/>
            <a:r>
              <a:rPr sz="1200" b="1">
                <a:solidFill>
                  <a:srgbClr val="0F172A"/>
                </a:solidFill>
                <a:latin typeface="Aptos"/>
              </a:rPr>
              <a:t>OpenLORIS</a:t>
            </a:r>
          </a:p>
        </p:txBody>
      </p:sp>
      <p:sp>
        <p:nvSpPr>
          <p:cNvPr id="9" name="Rectangle 8"/>
          <p:cNvSpPr/>
          <p:nvPr/>
        </p:nvSpPr>
        <p:spPr>
          <a:xfrm>
            <a:off x="877824" y="2112264"/>
            <a:ext cx="22860" cy="2651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94944" y="2386584"/>
            <a:ext cx="384048" cy="384048"/>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2</a:t>
            </a:r>
          </a:p>
        </p:txBody>
      </p:sp>
      <p:sp>
        <p:nvSpPr>
          <p:cNvPr id="11" name="Rounded Rectangle 10"/>
          <p:cNvSpPr/>
          <p:nvPr/>
        </p:nvSpPr>
        <p:spPr>
          <a:xfrm>
            <a:off x="1243584" y="2368296"/>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71600" y="2368296"/>
            <a:ext cx="2761488" cy="438912"/>
          </a:xfrm>
          <a:prstGeom prst="rect">
            <a:avLst/>
          </a:prstGeom>
          <a:noFill/>
        </p:spPr>
        <p:txBody>
          <a:bodyPr wrap="square" lIns="45720" rIns="45720" anchor="ctr">
            <a:spAutoFit/>
          </a:bodyPr>
          <a:lstStyle/>
          <a:p>
            <a:pPr algn="l"/>
            <a:r>
              <a:rPr sz="1200" b="1">
                <a:solidFill>
                  <a:srgbClr val="0F172A"/>
                </a:solidFill>
                <a:latin typeface="Aptos"/>
              </a:rPr>
              <a:t>00 · PREPARE</a:t>
            </a:r>
          </a:p>
        </p:txBody>
      </p:sp>
      <p:sp>
        <p:nvSpPr>
          <p:cNvPr id="13" name="Rectangle 12"/>
          <p:cNvSpPr/>
          <p:nvPr/>
        </p:nvSpPr>
        <p:spPr>
          <a:xfrm>
            <a:off x="877824" y="2779776"/>
            <a:ext cx="22860" cy="2651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94944" y="3054096"/>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3</a:t>
            </a:r>
          </a:p>
        </p:txBody>
      </p:sp>
      <p:sp>
        <p:nvSpPr>
          <p:cNvPr id="15" name="Rounded Rectangle 14"/>
          <p:cNvSpPr/>
          <p:nvPr/>
        </p:nvSpPr>
        <p:spPr>
          <a:xfrm>
            <a:off x="1243584" y="3035808"/>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71600" y="3035808"/>
            <a:ext cx="2761488" cy="438912"/>
          </a:xfrm>
          <a:prstGeom prst="rect">
            <a:avLst/>
          </a:prstGeom>
          <a:noFill/>
        </p:spPr>
        <p:txBody>
          <a:bodyPr wrap="square" lIns="45720" rIns="45720" anchor="ctr">
            <a:spAutoFit/>
          </a:bodyPr>
          <a:lstStyle/>
          <a:p>
            <a:pPr algn="l"/>
            <a:r>
              <a:rPr sz="1200" b="1">
                <a:solidFill>
                  <a:srgbClr val="0F172A"/>
                </a:solidFill>
                <a:latin typeface="Aptos"/>
              </a:rPr>
              <a:t>GOOGLE DRIVE</a:t>
            </a:r>
          </a:p>
        </p:txBody>
      </p:sp>
      <p:sp>
        <p:nvSpPr>
          <p:cNvPr id="17" name="Rectangle 16"/>
          <p:cNvSpPr/>
          <p:nvPr/>
        </p:nvSpPr>
        <p:spPr>
          <a:xfrm>
            <a:off x="877824" y="3447288"/>
            <a:ext cx="22860" cy="2651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94944" y="3721608"/>
            <a:ext cx="384048" cy="38404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4</a:t>
            </a:r>
          </a:p>
        </p:txBody>
      </p:sp>
      <p:sp>
        <p:nvSpPr>
          <p:cNvPr id="19" name="Rounded Rectangle 18"/>
          <p:cNvSpPr/>
          <p:nvPr/>
        </p:nvSpPr>
        <p:spPr>
          <a:xfrm>
            <a:off x="1243584" y="3703320"/>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71600" y="3703320"/>
            <a:ext cx="2761488" cy="438912"/>
          </a:xfrm>
          <a:prstGeom prst="rect">
            <a:avLst/>
          </a:prstGeom>
          <a:noFill/>
        </p:spPr>
        <p:txBody>
          <a:bodyPr wrap="square" lIns="45720" rIns="45720" anchor="ctr">
            <a:spAutoFit/>
          </a:bodyPr>
          <a:lstStyle/>
          <a:p>
            <a:pPr algn="l"/>
            <a:r>
              <a:rPr sz="1200" b="1">
                <a:solidFill>
                  <a:srgbClr val="0F172A"/>
                </a:solidFill>
                <a:latin typeface="Aptos"/>
              </a:rPr>
              <a:t>TRAIN / TEST</a:t>
            </a:r>
          </a:p>
        </p:txBody>
      </p:sp>
      <p:sp>
        <p:nvSpPr>
          <p:cNvPr id="21" name="Rectangle 20"/>
          <p:cNvSpPr/>
          <p:nvPr/>
        </p:nvSpPr>
        <p:spPr>
          <a:xfrm>
            <a:off x="877824" y="4114800"/>
            <a:ext cx="22860" cy="2651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94944" y="4389120"/>
            <a:ext cx="384048" cy="38404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5</a:t>
            </a:r>
          </a:p>
        </p:txBody>
      </p:sp>
      <p:sp>
        <p:nvSpPr>
          <p:cNvPr id="23" name="Rounded Rectangle 22"/>
          <p:cNvSpPr/>
          <p:nvPr/>
        </p:nvSpPr>
        <p:spPr>
          <a:xfrm>
            <a:off x="1243584" y="4370832"/>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71600" y="4370832"/>
            <a:ext cx="2761488" cy="438912"/>
          </a:xfrm>
          <a:prstGeom prst="rect">
            <a:avLst/>
          </a:prstGeom>
          <a:noFill/>
        </p:spPr>
        <p:txBody>
          <a:bodyPr wrap="square" lIns="45720" rIns="45720" anchor="ctr">
            <a:spAutoFit/>
          </a:bodyPr>
          <a:lstStyle/>
          <a:p>
            <a:pPr algn="l"/>
            <a:r>
              <a:rPr sz="1200" b="1">
                <a:solidFill>
                  <a:srgbClr val="0F172A"/>
                </a:solidFill>
                <a:latin typeface="Aptos"/>
              </a:rPr>
              <a:t>IMAGEFOLDER</a:t>
            </a:r>
          </a:p>
        </p:txBody>
      </p:sp>
      <p:sp>
        <p:nvSpPr>
          <p:cNvPr id="25" name="Rectangle 24"/>
          <p:cNvSpPr/>
          <p:nvPr/>
        </p:nvSpPr>
        <p:spPr>
          <a:xfrm>
            <a:off x="877824" y="4782312"/>
            <a:ext cx="22860" cy="265176"/>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94944" y="5056631"/>
            <a:ext cx="384048" cy="38404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Aptos Display"/>
              </a:rPr>
              <a:t>6</a:t>
            </a:r>
          </a:p>
        </p:txBody>
      </p:sp>
      <p:sp>
        <p:nvSpPr>
          <p:cNvPr id="27" name="Rounded Rectangle 26"/>
          <p:cNvSpPr/>
          <p:nvPr/>
        </p:nvSpPr>
        <p:spPr>
          <a:xfrm>
            <a:off x="1243584" y="5038344"/>
            <a:ext cx="3035808" cy="43891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71600" y="5038344"/>
            <a:ext cx="2761488" cy="438912"/>
          </a:xfrm>
          <a:prstGeom prst="rect">
            <a:avLst/>
          </a:prstGeom>
          <a:noFill/>
        </p:spPr>
        <p:txBody>
          <a:bodyPr wrap="square" lIns="45720" rIns="45720" anchor="ctr">
            <a:spAutoFit/>
          </a:bodyPr>
          <a:lstStyle/>
          <a:p>
            <a:pPr algn="l"/>
            <a:r>
              <a:rPr sz="1200" b="1">
                <a:solidFill>
                  <a:srgbClr val="0F172A"/>
                </a:solidFill>
                <a:latin typeface="Aptos"/>
              </a:rPr>
              <a:t>DATALOADER</a:t>
            </a:r>
          </a:p>
        </p:txBody>
      </p:sp>
      <p:sp>
        <p:nvSpPr>
          <p:cNvPr id="29" name="TextBox 28"/>
          <p:cNvSpPr txBox="1"/>
          <p:nvPr/>
        </p:nvSpPr>
        <p:spPr>
          <a:xfrm>
            <a:off x="4956048" y="1792224"/>
            <a:ext cx="2926080" cy="310896"/>
          </a:xfrm>
          <a:prstGeom prst="rect">
            <a:avLst/>
          </a:prstGeom>
          <a:noFill/>
        </p:spPr>
        <p:txBody>
          <a:bodyPr wrap="square" lIns="45720" rIns="45720" anchor="t">
            <a:spAutoFit/>
          </a:bodyPr>
          <a:lstStyle/>
          <a:p>
            <a:pPr algn="l"/>
            <a:r>
              <a:rPr sz="1100" b="1">
                <a:solidFill>
                  <a:srgbClr val="64748B"/>
                </a:solidFill>
                <a:latin typeface="Aptos"/>
              </a:rPr>
              <a:t>ENGINEERING JOURNEY</a:t>
            </a:r>
          </a:p>
        </p:txBody>
      </p:sp>
      <p:sp>
        <p:nvSpPr>
          <p:cNvPr id="30" name="Rounded Rectangle 29"/>
          <p:cNvSpPr/>
          <p:nvPr/>
        </p:nvSpPr>
        <p:spPr>
          <a:xfrm>
            <a:off x="4956048" y="2240280"/>
            <a:ext cx="2578608" cy="133502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175504" y="2414016"/>
            <a:ext cx="2103120" cy="457200"/>
          </a:xfrm>
          <a:prstGeom prst="rect">
            <a:avLst/>
          </a:prstGeom>
          <a:noFill/>
        </p:spPr>
        <p:txBody>
          <a:bodyPr wrap="square" lIns="45720" rIns="45720" anchor="t">
            <a:spAutoFit/>
          </a:bodyPr>
          <a:lstStyle/>
          <a:p>
            <a:pPr algn="l"/>
            <a:r>
              <a:rPr sz="3000" b="1">
                <a:solidFill>
                  <a:srgbClr val="64748B"/>
                </a:solidFill>
                <a:latin typeface="Aptos Display"/>
              </a:rPr>
              <a:t>300</a:t>
            </a:r>
          </a:p>
        </p:txBody>
      </p:sp>
      <p:sp>
        <p:nvSpPr>
          <p:cNvPr id="32" name="TextBox 31"/>
          <p:cNvSpPr txBox="1"/>
          <p:nvPr/>
        </p:nvSpPr>
        <p:spPr>
          <a:xfrm>
            <a:off x="5175504" y="2926080"/>
            <a:ext cx="2103120" cy="256032"/>
          </a:xfrm>
          <a:prstGeom prst="rect">
            <a:avLst/>
          </a:prstGeom>
          <a:noFill/>
        </p:spPr>
        <p:txBody>
          <a:bodyPr wrap="square" lIns="45720" rIns="45720" anchor="t">
            <a:spAutoFit/>
          </a:bodyPr>
          <a:lstStyle/>
          <a:p>
            <a:pPr algn="l"/>
            <a:r>
              <a:rPr sz="1100" b="0">
                <a:solidFill>
                  <a:srgbClr val="64748B"/>
                </a:solidFill>
                <a:latin typeface="Aptos"/>
              </a:rPr>
              <a:t>prototype images</a:t>
            </a:r>
          </a:p>
        </p:txBody>
      </p:sp>
      <p:sp>
        <p:nvSpPr>
          <p:cNvPr id="33" name="Right Arrow 32"/>
          <p:cNvSpPr/>
          <p:nvPr/>
        </p:nvSpPr>
        <p:spPr>
          <a:xfrm>
            <a:off x="7744968" y="2770632"/>
            <a:ext cx="475488" cy="292608"/>
          </a:xfrm>
          <a:prstGeom prst="rightArrow">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8430768" y="2240280"/>
            <a:ext cx="2907792" cy="1335024"/>
          </a:xfrm>
          <a:prstGeom prst="roundRect">
            <a:avLst/>
          </a:prstGeom>
          <a:solidFill>
            <a:srgbClr val="CCFBF1"/>
          </a:solidFill>
          <a:ln w="1905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668512" y="2414016"/>
            <a:ext cx="2395728" cy="457200"/>
          </a:xfrm>
          <a:prstGeom prst="rect">
            <a:avLst/>
          </a:prstGeom>
          <a:noFill/>
        </p:spPr>
        <p:txBody>
          <a:bodyPr wrap="square" lIns="45720" rIns="45720" anchor="t">
            <a:spAutoFit/>
          </a:bodyPr>
          <a:lstStyle/>
          <a:p>
            <a:pPr algn="l"/>
            <a:r>
              <a:rPr sz="3000" b="1">
                <a:solidFill>
                  <a:srgbClr val="0F766E"/>
                </a:solidFill>
                <a:latin typeface="Aptos Display"/>
              </a:rPr>
              <a:t>3,600</a:t>
            </a:r>
          </a:p>
        </p:txBody>
      </p:sp>
      <p:sp>
        <p:nvSpPr>
          <p:cNvPr id="36" name="TextBox 35"/>
          <p:cNvSpPr txBox="1"/>
          <p:nvPr/>
        </p:nvSpPr>
        <p:spPr>
          <a:xfrm>
            <a:off x="8668512" y="2926080"/>
            <a:ext cx="2395728" cy="256032"/>
          </a:xfrm>
          <a:prstGeom prst="rect">
            <a:avLst/>
          </a:prstGeom>
          <a:noFill/>
        </p:spPr>
        <p:txBody>
          <a:bodyPr wrap="square" lIns="45720" rIns="45720" anchor="t">
            <a:spAutoFit/>
          </a:bodyPr>
          <a:lstStyle/>
          <a:p>
            <a:pPr algn="l"/>
            <a:r>
              <a:rPr sz="1100" b="0">
                <a:solidFill>
                  <a:srgbClr val="0F766E"/>
                </a:solidFill>
                <a:latin typeface="Aptos"/>
              </a:rPr>
              <a:t>current images</a:t>
            </a:r>
          </a:p>
        </p:txBody>
      </p:sp>
      <p:sp>
        <p:nvSpPr>
          <p:cNvPr id="37" name="Rounded Rectangle 36"/>
          <p:cNvSpPr/>
          <p:nvPr/>
        </p:nvSpPr>
        <p:spPr>
          <a:xfrm>
            <a:off x="4956048" y="4005072"/>
            <a:ext cx="1847088"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02352" y="4169663"/>
            <a:ext cx="1554480" cy="347472"/>
          </a:xfrm>
          <a:prstGeom prst="rect">
            <a:avLst/>
          </a:prstGeom>
          <a:noFill/>
        </p:spPr>
        <p:txBody>
          <a:bodyPr wrap="square" lIns="45720" rIns="45720" anchor="t">
            <a:spAutoFit/>
          </a:bodyPr>
          <a:lstStyle/>
          <a:p>
            <a:pPr algn="l"/>
            <a:r>
              <a:rPr sz="2200" b="1">
                <a:solidFill>
                  <a:srgbClr val="0F172A"/>
                </a:solidFill>
                <a:latin typeface="Aptos Display"/>
              </a:rPr>
              <a:t>3,000</a:t>
            </a:r>
          </a:p>
        </p:txBody>
      </p:sp>
      <p:sp>
        <p:nvSpPr>
          <p:cNvPr id="39" name="TextBox 38"/>
          <p:cNvSpPr txBox="1"/>
          <p:nvPr/>
        </p:nvSpPr>
        <p:spPr>
          <a:xfrm>
            <a:off x="5102352" y="4599432"/>
            <a:ext cx="1554480" cy="237744"/>
          </a:xfrm>
          <a:prstGeom prst="rect">
            <a:avLst/>
          </a:prstGeom>
          <a:noFill/>
        </p:spPr>
        <p:txBody>
          <a:bodyPr wrap="square" lIns="45720" rIns="45720" anchor="t">
            <a:spAutoFit/>
          </a:bodyPr>
          <a:lstStyle/>
          <a:p>
            <a:pPr algn="l"/>
            <a:r>
              <a:rPr sz="1000" b="0">
                <a:solidFill>
                  <a:srgbClr val="64748B"/>
                </a:solidFill>
                <a:latin typeface="Aptos"/>
              </a:rPr>
              <a:t>training</a:t>
            </a:r>
          </a:p>
        </p:txBody>
      </p:sp>
      <p:sp>
        <p:nvSpPr>
          <p:cNvPr id="40" name="Rounded Rectangle 39"/>
          <p:cNvSpPr/>
          <p:nvPr/>
        </p:nvSpPr>
        <p:spPr>
          <a:xfrm>
            <a:off x="7114031" y="4005072"/>
            <a:ext cx="1847088"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260336" y="4169663"/>
            <a:ext cx="1554480" cy="347472"/>
          </a:xfrm>
          <a:prstGeom prst="rect">
            <a:avLst/>
          </a:prstGeom>
          <a:noFill/>
        </p:spPr>
        <p:txBody>
          <a:bodyPr wrap="square" lIns="45720" rIns="45720" anchor="t">
            <a:spAutoFit/>
          </a:bodyPr>
          <a:lstStyle/>
          <a:p>
            <a:pPr algn="l"/>
            <a:r>
              <a:rPr sz="2200" b="1">
                <a:solidFill>
                  <a:srgbClr val="0F172A"/>
                </a:solidFill>
                <a:latin typeface="Aptos Display"/>
              </a:rPr>
              <a:t>600</a:t>
            </a:r>
          </a:p>
        </p:txBody>
      </p:sp>
      <p:sp>
        <p:nvSpPr>
          <p:cNvPr id="42" name="TextBox 41"/>
          <p:cNvSpPr txBox="1"/>
          <p:nvPr/>
        </p:nvSpPr>
        <p:spPr>
          <a:xfrm>
            <a:off x="7260336" y="4599432"/>
            <a:ext cx="1554480" cy="237744"/>
          </a:xfrm>
          <a:prstGeom prst="rect">
            <a:avLst/>
          </a:prstGeom>
          <a:noFill/>
        </p:spPr>
        <p:txBody>
          <a:bodyPr wrap="square" lIns="45720" rIns="45720" anchor="t">
            <a:spAutoFit/>
          </a:bodyPr>
          <a:lstStyle/>
          <a:p>
            <a:pPr algn="l"/>
            <a:r>
              <a:rPr sz="1000" b="0">
                <a:solidFill>
                  <a:srgbClr val="64748B"/>
                </a:solidFill>
                <a:latin typeface="Aptos"/>
              </a:rPr>
              <a:t>testing</a:t>
            </a:r>
          </a:p>
        </p:txBody>
      </p:sp>
      <p:sp>
        <p:nvSpPr>
          <p:cNvPr id="43" name="Rounded Rectangle 42"/>
          <p:cNvSpPr/>
          <p:nvPr/>
        </p:nvSpPr>
        <p:spPr>
          <a:xfrm>
            <a:off x="9272016" y="4005072"/>
            <a:ext cx="1847088" cy="1078992"/>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418320" y="4169663"/>
            <a:ext cx="1554480" cy="347472"/>
          </a:xfrm>
          <a:prstGeom prst="rect">
            <a:avLst/>
          </a:prstGeom>
          <a:noFill/>
        </p:spPr>
        <p:txBody>
          <a:bodyPr wrap="square" lIns="45720" rIns="45720" anchor="t">
            <a:spAutoFit/>
          </a:bodyPr>
          <a:lstStyle/>
          <a:p>
            <a:pPr algn="l"/>
            <a:r>
              <a:rPr sz="2200" b="1">
                <a:solidFill>
                  <a:srgbClr val="0F172A"/>
                </a:solidFill>
                <a:latin typeface="Aptos Display"/>
              </a:rPr>
              <a:t>3</a:t>
            </a:r>
          </a:p>
        </p:txBody>
      </p:sp>
      <p:sp>
        <p:nvSpPr>
          <p:cNvPr id="45" name="TextBox 44"/>
          <p:cNvSpPr txBox="1"/>
          <p:nvPr/>
        </p:nvSpPr>
        <p:spPr>
          <a:xfrm>
            <a:off x="9418320" y="4599432"/>
            <a:ext cx="1554480" cy="237744"/>
          </a:xfrm>
          <a:prstGeom prst="rect">
            <a:avLst/>
          </a:prstGeom>
          <a:noFill/>
        </p:spPr>
        <p:txBody>
          <a:bodyPr wrap="square" lIns="45720" rIns="45720" anchor="t">
            <a:spAutoFit/>
          </a:bodyPr>
          <a:lstStyle/>
          <a:p>
            <a:pPr algn="l"/>
            <a:r>
              <a:rPr sz="1000" b="0">
                <a:solidFill>
                  <a:srgbClr val="64748B"/>
                </a:solidFill>
                <a:latin typeface="Aptos"/>
              </a:rPr>
              <a:t>balanced classes</a:t>
            </a:r>
          </a:p>
        </p:txBody>
      </p:sp>
      <p:sp>
        <p:nvSpPr>
          <p:cNvPr id="46" name="Rounded Rectangle 45"/>
          <p:cNvSpPr/>
          <p:nvPr/>
        </p:nvSpPr>
        <p:spPr>
          <a:xfrm>
            <a:off x="4956048" y="5376672"/>
            <a:ext cx="6382512" cy="585216"/>
          </a:xfrm>
          <a:prstGeom prst="roundRect">
            <a:avLst/>
          </a:prstGeom>
          <a:solidFill>
            <a:srgbClr val="E0F2FE"/>
          </a:solidFill>
          <a:ln w="12700">
            <a:solidFill>
              <a:srgbClr val="E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157216" y="5376672"/>
            <a:ext cx="5998464" cy="585216"/>
          </a:xfrm>
          <a:prstGeom prst="rect">
            <a:avLst/>
          </a:prstGeom>
          <a:noFill/>
        </p:spPr>
        <p:txBody>
          <a:bodyPr wrap="square" lIns="45720" rIns="45720" anchor="ctr">
            <a:spAutoFit/>
          </a:bodyPr>
          <a:lstStyle/>
          <a:p>
            <a:pPr algn="ctr"/>
            <a:r>
              <a:rPr sz="1100" b="1">
                <a:solidFill>
                  <a:srgbClr val="0284C7"/>
                </a:solidFill>
                <a:latin typeface="Aptos"/>
              </a:rPr>
              <a:t>Seed 42  •  original splits preserved  •  no train/test overlap  •  114.4 MB</a:t>
            </a:r>
          </a:p>
        </p:txBody>
      </p:sp>
      <p:sp>
        <p:nvSpPr>
          <p:cNvPr id="48" name="TextBox 47"/>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05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MODEL EXPERIMENTS</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From Scratch vs. Transfer Learning</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19072"/>
            <a:ext cx="5358384" cy="4407408"/>
          </a:xfrm>
          <a:prstGeom prst="roundRect">
            <a:avLst/>
          </a:prstGeom>
          <a:solidFill>
            <a:srgbClr val="FFFFFF"/>
          </a:solidFill>
          <a:ln w="1905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77824" y="1975104"/>
            <a:ext cx="3200400" cy="329184"/>
          </a:xfrm>
          <a:prstGeom prst="rect">
            <a:avLst/>
          </a:prstGeom>
          <a:noFill/>
        </p:spPr>
        <p:txBody>
          <a:bodyPr wrap="square" lIns="45720" rIns="45720" anchor="t">
            <a:spAutoFit/>
          </a:bodyPr>
          <a:lstStyle/>
          <a:p>
            <a:pPr algn="l"/>
            <a:r>
              <a:rPr sz="1500" b="1">
                <a:solidFill>
                  <a:srgbClr val="0284C7"/>
                </a:solidFill>
                <a:latin typeface="Aptos"/>
              </a:rPr>
              <a:t>ViT FROM SCRATCH</a:t>
            </a:r>
          </a:p>
        </p:txBody>
      </p:sp>
      <p:sp>
        <p:nvSpPr>
          <p:cNvPr id="8" name="TextBox 7"/>
          <p:cNvSpPr txBox="1"/>
          <p:nvPr/>
        </p:nvSpPr>
        <p:spPr>
          <a:xfrm>
            <a:off x="877824" y="2331720"/>
            <a:ext cx="4480560" cy="274320"/>
          </a:xfrm>
          <a:prstGeom prst="rect">
            <a:avLst/>
          </a:prstGeom>
          <a:noFill/>
        </p:spPr>
        <p:txBody>
          <a:bodyPr wrap="square" lIns="45720" rIns="45720" anchor="t">
            <a:spAutoFit/>
          </a:bodyPr>
          <a:lstStyle/>
          <a:p>
            <a:pPr algn="l"/>
            <a:r>
              <a:rPr sz="1100" b="0">
                <a:solidFill>
                  <a:srgbClr val="64748B"/>
                </a:solidFill>
                <a:latin typeface="Aptos"/>
              </a:rPr>
              <a:t>Starts with no learned visual knowledge</a:t>
            </a:r>
          </a:p>
        </p:txBody>
      </p:sp>
      <p:sp>
        <p:nvSpPr>
          <p:cNvPr id="9" name="Oval 8"/>
          <p:cNvSpPr/>
          <p:nvPr/>
        </p:nvSpPr>
        <p:spPr>
          <a:xfrm>
            <a:off x="914400" y="2834640"/>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1</a:t>
            </a:r>
          </a:p>
        </p:txBody>
      </p:sp>
      <p:sp>
        <p:nvSpPr>
          <p:cNvPr id="10" name="TextBox 9"/>
          <p:cNvSpPr txBox="1"/>
          <p:nvPr/>
        </p:nvSpPr>
        <p:spPr>
          <a:xfrm>
            <a:off x="1389888" y="2825496"/>
            <a:ext cx="3611880" cy="329184"/>
          </a:xfrm>
          <a:prstGeom prst="rect">
            <a:avLst/>
          </a:prstGeom>
          <a:noFill/>
        </p:spPr>
        <p:txBody>
          <a:bodyPr wrap="square" lIns="45720" rIns="45720" anchor="ctr">
            <a:spAutoFit/>
          </a:bodyPr>
          <a:lstStyle/>
          <a:p>
            <a:pPr algn="l"/>
            <a:r>
              <a:rPr sz="1200" b="1">
                <a:solidFill>
                  <a:srgbClr val="0F172A"/>
                </a:solidFill>
                <a:latin typeface="Aptos"/>
              </a:rPr>
              <a:t>Image</a:t>
            </a:r>
          </a:p>
        </p:txBody>
      </p:sp>
      <p:sp>
        <p:nvSpPr>
          <p:cNvPr id="11" name="Oval 10"/>
          <p:cNvSpPr/>
          <p:nvPr/>
        </p:nvSpPr>
        <p:spPr>
          <a:xfrm>
            <a:off x="914400" y="3364992"/>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2</a:t>
            </a:r>
          </a:p>
        </p:txBody>
      </p:sp>
      <p:sp>
        <p:nvSpPr>
          <p:cNvPr id="12" name="TextBox 11"/>
          <p:cNvSpPr txBox="1"/>
          <p:nvPr/>
        </p:nvSpPr>
        <p:spPr>
          <a:xfrm>
            <a:off x="1389888" y="3355848"/>
            <a:ext cx="3611880" cy="329184"/>
          </a:xfrm>
          <a:prstGeom prst="rect">
            <a:avLst/>
          </a:prstGeom>
          <a:noFill/>
        </p:spPr>
        <p:txBody>
          <a:bodyPr wrap="square" lIns="45720" rIns="45720" anchor="ctr">
            <a:spAutoFit/>
          </a:bodyPr>
          <a:lstStyle/>
          <a:p>
            <a:pPr algn="l"/>
            <a:r>
              <a:rPr sz="1200" b="1">
                <a:solidFill>
                  <a:srgbClr val="0F172A"/>
                </a:solidFill>
                <a:latin typeface="Aptos"/>
              </a:rPr>
              <a:t>16×16 patches</a:t>
            </a:r>
          </a:p>
        </p:txBody>
      </p:sp>
      <p:sp>
        <p:nvSpPr>
          <p:cNvPr id="13" name="Oval 12"/>
          <p:cNvSpPr/>
          <p:nvPr/>
        </p:nvSpPr>
        <p:spPr>
          <a:xfrm>
            <a:off x="914400" y="3895344"/>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3</a:t>
            </a:r>
          </a:p>
        </p:txBody>
      </p:sp>
      <p:sp>
        <p:nvSpPr>
          <p:cNvPr id="14" name="TextBox 13"/>
          <p:cNvSpPr txBox="1"/>
          <p:nvPr/>
        </p:nvSpPr>
        <p:spPr>
          <a:xfrm>
            <a:off x="1389888" y="3886200"/>
            <a:ext cx="3611880" cy="329184"/>
          </a:xfrm>
          <a:prstGeom prst="rect">
            <a:avLst/>
          </a:prstGeom>
          <a:noFill/>
        </p:spPr>
        <p:txBody>
          <a:bodyPr wrap="square" lIns="45720" rIns="45720" anchor="ctr">
            <a:spAutoFit/>
          </a:bodyPr>
          <a:lstStyle/>
          <a:p>
            <a:pPr algn="l"/>
            <a:r>
              <a:rPr sz="1200" b="1">
                <a:solidFill>
                  <a:srgbClr val="0F172A"/>
                </a:solidFill>
                <a:latin typeface="Aptos"/>
              </a:rPr>
              <a:t>Patch embeddings</a:t>
            </a:r>
          </a:p>
        </p:txBody>
      </p:sp>
      <p:sp>
        <p:nvSpPr>
          <p:cNvPr id="15" name="Oval 14"/>
          <p:cNvSpPr/>
          <p:nvPr/>
        </p:nvSpPr>
        <p:spPr>
          <a:xfrm>
            <a:off x="914400" y="4425696"/>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4</a:t>
            </a:r>
          </a:p>
        </p:txBody>
      </p:sp>
      <p:sp>
        <p:nvSpPr>
          <p:cNvPr id="16" name="TextBox 15"/>
          <p:cNvSpPr txBox="1"/>
          <p:nvPr/>
        </p:nvSpPr>
        <p:spPr>
          <a:xfrm>
            <a:off x="1389888" y="4416552"/>
            <a:ext cx="3611880" cy="329184"/>
          </a:xfrm>
          <a:prstGeom prst="rect">
            <a:avLst/>
          </a:prstGeom>
          <a:noFill/>
        </p:spPr>
        <p:txBody>
          <a:bodyPr wrap="square" lIns="45720" rIns="45720" anchor="ctr">
            <a:spAutoFit/>
          </a:bodyPr>
          <a:lstStyle/>
          <a:p>
            <a:pPr algn="l"/>
            <a:r>
              <a:rPr sz="1200" b="1">
                <a:solidFill>
                  <a:srgbClr val="0F172A"/>
                </a:solidFill>
                <a:latin typeface="Aptos"/>
              </a:rPr>
              <a:t>12 encoder blocks</a:t>
            </a:r>
          </a:p>
        </p:txBody>
      </p:sp>
      <p:sp>
        <p:nvSpPr>
          <p:cNvPr id="17" name="Oval 16"/>
          <p:cNvSpPr/>
          <p:nvPr/>
        </p:nvSpPr>
        <p:spPr>
          <a:xfrm>
            <a:off x="914400" y="4956048"/>
            <a:ext cx="310896" cy="310896"/>
          </a:xfrm>
          <a:prstGeom prst="ellipse">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5</a:t>
            </a:r>
          </a:p>
        </p:txBody>
      </p:sp>
      <p:sp>
        <p:nvSpPr>
          <p:cNvPr id="18" name="TextBox 17"/>
          <p:cNvSpPr txBox="1"/>
          <p:nvPr/>
        </p:nvSpPr>
        <p:spPr>
          <a:xfrm>
            <a:off x="1389888" y="4946904"/>
            <a:ext cx="3611880" cy="329184"/>
          </a:xfrm>
          <a:prstGeom prst="rect">
            <a:avLst/>
          </a:prstGeom>
          <a:noFill/>
        </p:spPr>
        <p:txBody>
          <a:bodyPr wrap="square" lIns="45720" rIns="45720" anchor="ctr">
            <a:spAutoFit/>
          </a:bodyPr>
          <a:lstStyle/>
          <a:p>
            <a:pPr algn="l"/>
            <a:r>
              <a:rPr sz="1200" b="1">
                <a:solidFill>
                  <a:srgbClr val="0F172A"/>
                </a:solidFill>
                <a:latin typeface="Aptos"/>
              </a:rPr>
              <a:t>3-class head</a:t>
            </a:r>
          </a:p>
        </p:txBody>
      </p:sp>
      <p:sp>
        <p:nvSpPr>
          <p:cNvPr id="19" name="Rounded Rectangle 18"/>
          <p:cNvSpPr/>
          <p:nvPr/>
        </p:nvSpPr>
        <p:spPr>
          <a:xfrm>
            <a:off x="877824" y="5577840"/>
            <a:ext cx="4800600" cy="347472"/>
          </a:xfrm>
          <a:prstGeom prst="roundRect">
            <a:avLst/>
          </a:prstGeom>
          <a:solidFill>
            <a:srgbClr val="E0F2FE"/>
          </a:solidFill>
          <a:ln w="12700">
            <a:solidFill>
              <a:srgbClr val="E0F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 y="5577840"/>
            <a:ext cx="4617720" cy="347472"/>
          </a:xfrm>
          <a:prstGeom prst="rect">
            <a:avLst/>
          </a:prstGeom>
          <a:noFill/>
        </p:spPr>
        <p:txBody>
          <a:bodyPr wrap="square" lIns="45720" rIns="45720" anchor="ctr">
            <a:spAutoFit/>
          </a:bodyPr>
          <a:lstStyle/>
          <a:p>
            <a:pPr algn="ctr"/>
            <a:r>
              <a:rPr sz="900" b="1">
                <a:solidFill>
                  <a:srgbClr val="0284C7"/>
                </a:solidFill>
                <a:latin typeface="Aptos"/>
              </a:rPr>
              <a:t>Corrected: pre-norm, one residual path, local patch-size checks</a:t>
            </a:r>
          </a:p>
        </p:txBody>
      </p:sp>
      <p:sp>
        <p:nvSpPr>
          <p:cNvPr id="21" name="Rounded Rectangle 20"/>
          <p:cNvSpPr/>
          <p:nvPr/>
        </p:nvSpPr>
        <p:spPr>
          <a:xfrm>
            <a:off x="6236208" y="1719072"/>
            <a:ext cx="5358384" cy="4407408"/>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510528" y="1975104"/>
            <a:ext cx="3474720" cy="329184"/>
          </a:xfrm>
          <a:prstGeom prst="rect">
            <a:avLst/>
          </a:prstGeom>
          <a:noFill/>
        </p:spPr>
        <p:txBody>
          <a:bodyPr wrap="square" lIns="45720" rIns="45720" anchor="t">
            <a:spAutoFit/>
          </a:bodyPr>
          <a:lstStyle/>
          <a:p>
            <a:pPr algn="l"/>
            <a:r>
              <a:rPr sz="1500" b="1">
                <a:solidFill>
                  <a:srgbClr val="5EEAD4"/>
                </a:solidFill>
                <a:latin typeface="Aptos"/>
              </a:rPr>
              <a:t>PRETRAINED ViT-B/16</a:t>
            </a:r>
          </a:p>
        </p:txBody>
      </p:sp>
      <p:sp>
        <p:nvSpPr>
          <p:cNvPr id="23" name="TextBox 22"/>
          <p:cNvSpPr txBox="1"/>
          <p:nvPr/>
        </p:nvSpPr>
        <p:spPr>
          <a:xfrm>
            <a:off x="6510528" y="2331720"/>
            <a:ext cx="4480560" cy="274320"/>
          </a:xfrm>
          <a:prstGeom prst="rect">
            <a:avLst/>
          </a:prstGeom>
          <a:noFill/>
        </p:spPr>
        <p:txBody>
          <a:bodyPr wrap="square" lIns="45720" rIns="45720" anchor="t">
            <a:spAutoFit/>
          </a:bodyPr>
          <a:lstStyle/>
          <a:p>
            <a:pPr algn="l"/>
            <a:r>
              <a:rPr sz="1100" b="0">
                <a:solidFill>
                  <a:srgbClr val="CBD5E1"/>
                </a:solidFill>
                <a:latin typeface="Aptos"/>
              </a:rPr>
              <a:t>Reuses visual features learned from ImageNet</a:t>
            </a:r>
          </a:p>
        </p:txBody>
      </p:sp>
      <p:sp>
        <p:nvSpPr>
          <p:cNvPr id="24" name="Oval 23"/>
          <p:cNvSpPr/>
          <p:nvPr/>
        </p:nvSpPr>
        <p:spPr>
          <a:xfrm>
            <a:off x="6547104" y="2834640"/>
            <a:ext cx="310896" cy="310896"/>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1</a:t>
            </a:r>
          </a:p>
        </p:txBody>
      </p:sp>
      <p:sp>
        <p:nvSpPr>
          <p:cNvPr id="25" name="TextBox 24"/>
          <p:cNvSpPr txBox="1"/>
          <p:nvPr/>
        </p:nvSpPr>
        <p:spPr>
          <a:xfrm>
            <a:off x="7022592" y="2825496"/>
            <a:ext cx="3794760" cy="329184"/>
          </a:xfrm>
          <a:prstGeom prst="rect">
            <a:avLst/>
          </a:prstGeom>
          <a:noFill/>
        </p:spPr>
        <p:txBody>
          <a:bodyPr wrap="square" lIns="45720" rIns="45720" anchor="ctr">
            <a:spAutoFit/>
          </a:bodyPr>
          <a:lstStyle/>
          <a:p>
            <a:pPr algn="l"/>
            <a:r>
              <a:rPr sz="1200" b="1">
                <a:solidFill>
                  <a:srgbClr val="FFFFFF"/>
                </a:solidFill>
                <a:latin typeface="Aptos"/>
              </a:rPr>
              <a:t>Image</a:t>
            </a:r>
          </a:p>
        </p:txBody>
      </p:sp>
      <p:sp>
        <p:nvSpPr>
          <p:cNvPr id="26" name="Oval 25"/>
          <p:cNvSpPr/>
          <p:nvPr/>
        </p:nvSpPr>
        <p:spPr>
          <a:xfrm>
            <a:off x="6547104" y="3364992"/>
            <a:ext cx="310896" cy="310896"/>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2</a:t>
            </a:r>
          </a:p>
        </p:txBody>
      </p:sp>
      <p:sp>
        <p:nvSpPr>
          <p:cNvPr id="27" name="TextBox 26"/>
          <p:cNvSpPr txBox="1"/>
          <p:nvPr/>
        </p:nvSpPr>
        <p:spPr>
          <a:xfrm>
            <a:off x="7022592" y="3355848"/>
            <a:ext cx="3794760" cy="329184"/>
          </a:xfrm>
          <a:prstGeom prst="rect">
            <a:avLst/>
          </a:prstGeom>
          <a:noFill/>
        </p:spPr>
        <p:txBody>
          <a:bodyPr wrap="square" lIns="45720" rIns="45720" anchor="ctr">
            <a:spAutoFit/>
          </a:bodyPr>
          <a:lstStyle/>
          <a:p>
            <a:pPr algn="l"/>
            <a:r>
              <a:rPr sz="1200" b="1">
                <a:solidFill>
                  <a:srgbClr val="FFFFFF"/>
                </a:solidFill>
                <a:latin typeface="Aptos"/>
              </a:rPr>
              <a:t>Pretrained backbone</a:t>
            </a:r>
          </a:p>
        </p:txBody>
      </p:sp>
      <p:sp>
        <p:nvSpPr>
          <p:cNvPr id="28" name="Oval 27"/>
          <p:cNvSpPr/>
          <p:nvPr/>
        </p:nvSpPr>
        <p:spPr>
          <a:xfrm>
            <a:off x="6547104" y="3895344"/>
            <a:ext cx="310896" cy="310896"/>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3</a:t>
            </a:r>
          </a:p>
        </p:txBody>
      </p:sp>
      <p:sp>
        <p:nvSpPr>
          <p:cNvPr id="29" name="TextBox 28"/>
          <p:cNvSpPr txBox="1"/>
          <p:nvPr/>
        </p:nvSpPr>
        <p:spPr>
          <a:xfrm>
            <a:off x="7022592" y="3886200"/>
            <a:ext cx="3794760" cy="329184"/>
          </a:xfrm>
          <a:prstGeom prst="rect">
            <a:avLst/>
          </a:prstGeom>
          <a:noFill/>
        </p:spPr>
        <p:txBody>
          <a:bodyPr wrap="square" lIns="45720" rIns="45720" anchor="ctr">
            <a:spAutoFit/>
          </a:bodyPr>
          <a:lstStyle/>
          <a:p>
            <a:pPr algn="l"/>
            <a:r>
              <a:rPr sz="1200" b="1">
                <a:solidFill>
                  <a:srgbClr val="FFFFFF"/>
                </a:solidFill>
                <a:latin typeface="Aptos"/>
              </a:rPr>
              <a:t>Frozen visual features</a:t>
            </a:r>
          </a:p>
        </p:txBody>
      </p:sp>
      <p:sp>
        <p:nvSpPr>
          <p:cNvPr id="30" name="Oval 29"/>
          <p:cNvSpPr/>
          <p:nvPr/>
        </p:nvSpPr>
        <p:spPr>
          <a:xfrm>
            <a:off x="6547104" y="4425696"/>
            <a:ext cx="310896" cy="310896"/>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4</a:t>
            </a:r>
          </a:p>
        </p:txBody>
      </p:sp>
      <p:sp>
        <p:nvSpPr>
          <p:cNvPr id="31" name="TextBox 30"/>
          <p:cNvSpPr txBox="1"/>
          <p:nvPr/>
        </p:nvSpPr>
        <p:spPr>
          <a:xfrm>
            <a:off x="7022592" y="4416552"/>
            <a:ext cx="3794760" cy="329184"/>
          </a:xfrm>
          <a:prstGeom prst="rect">
            <a:avLst/>
          </a:prstGeom>
          <a:noFill/>
        </p:spPr>
        <p:txBody>
          <a:bodyPr wrap="square" lIns="45720" rIns="45720" anchor="ctr">
            <a:spAutoFit/>
          </a:bodyPr>
          <a:lstStyle/>
          <a:p>
            <a:pPr algn="l"/>
            <a:r>
              <a:rPr sz="1200" b="1">
                <a:solidFill>
                  <a:srgbClr val="FFFFFF"/>
                </a:solidFill>
                <a:latin typeface="Aptos"/>
              </a:rPr>
              <a:t>New linear head</a:t>
            </a:r>
          </a:p>
        </p:txBody>
      </p:sp>
      <p:sp>
        <p:nvSpPr>
          <p:cNvPr id="32" name="Oval 31"/>
          <p:cNvSpPr/>
          <p:nvPr/>
        </p:nvSpPr>
        <p:spPr>
          <a:xfrm>
            <a:off x="6547104" y="4956048"/>
            <a:ext cx="310896" cy="310896"/>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900" b="1">
                <a:solidFill>
                  <a:srgbClr val="FFFFFF"/>
                </a:solidFill>
                <a:latin typeface="Aptos Display"/>
              </a:rPr>
              <a:t>5</a:t>
            </a:r>
          </a:p>
        </p:txBody>
      </p:sp>
      <p:sp>
        <p:nvSpPr>
          <p:cNvPr id="33" name="TextBox 32"/>
          <p:cNvSpPr txBox="1"/>
          <p:nvPr/>
        </p:nvSpPr>
        <p:spPr>
          <a:xfrm>
            <a:off x="7022592" y="4946904"/>
            <a:ext cx="3794760" cy="329184"/>
          </a:xfrm>
          <a:prstGeom prst="rect">
            <a:avLst/>
          </a:prstGeom>
          <a:noFill/>
        </p:spPr>
        <p:txBody>
          <a:bodyPr wrap="square" lIns="45720" rIns="45720" anchor="ctr">
            <a:spAutoFit/>
          </a:bodyPr>
          <a:lstStyle/>
          <a:p>
            <a:pPr algn="l"/>
            <a:r>
              <a:rPr sz="1200" b="1">
                <a:solidFill>
                  <a:srgbClr val="FFFFFF"/>
                </a:solidFill>
                <a:latin typeface="Aptos"/>
              </a:rPr>
              <a:t>3 PickSense classes</a:t>
            </a:r>
          </a:p>
        </p:txBody>
      </p:sp>
      <p:sp>
        <p:nvSpPr>
          <p:cNvPr id="34" name="Rounded Rectangle 33"/>
          <p:cNvSpPr/>
          <p:nvPr/>
        </p:nvSpPr>
        <p:spPr>
          <a:xfrm>
            <a:off x="6510528" y="5577840"/>
            <a:ext cx="4800600" cy="347472"/>
          </a:xfrm>
          <a:prstGeom prst="roundRect">
            <a:avLst/>
          </a:prstGeom>
          <a:solidFill>
            <a:srgbClr val="134E4A"/>
          </a:solidFill>
          <a:ln w="12700">
            <a:solidFill>
              <a:srgbClr val="134E4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01968" y="5577840"/>
            <a:ext cx="4617720" cy="347472"/>
          </a:xfrm>
          <a:prstGeom prst="rect">
            <a:avLst/>
          </a:prstGeom>
          <a:noFill/>
        </p:spPr>
        <p:txBody>
          <a:bodyPr wrap="square" lIns="45720" rIns="45720" anchor="ctr">
            <a:spAutoFit/>
          </a:bodyPr>
          <a:lstStyle/>
          <a:p>
            <a:pPr algn="ctr"/>
            <a:r>
              <a:rPr sz="900" b="1">
                <a:solidFill>
                  <a:srgbClr val="99F6E4"/>
                </a:solidFill>
                <a:latin typeface="Aptos"/>
              </a:rPr>
              <a:t>Best validated path for the current dataset</a:t>
            </a:r>
          </a:p>
        </p:txBody>
      </p:sp>
      <p:sp>
        <p:nvSpPr>
          <p:cNvPr id="36" name="TextBox 35"/>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06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CURRENT RESULTS</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More Data Made the Predictions Relevant</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03504" y="1719072"/>
            <a:ext cx="3017520" cy="4389120"/>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1248" y="1993392"/>
            <a:ext cx="2523744" cy="822960"/>
          </a:xfrm>
          <a:prstGeom prst="rect">
            <a:avLst/>
          </a:prstGeom>
          <a:noFill/>
        </p:spPr>
        <p:txBody>
          <a:bodyPr wrap="square" lIns="45720" rIns="45720" anchor="t">
            <a:spAutoFit/>
          </a:bodyPr>
          <a:lstStyle/>
          <a:p>
            <a:pPr algn="ctr"/>
            <a:r>
              <a:rPr sz="4300" b="1">
                <a:solidFill>
                  <a:srgbClr val="5EEAD4"/>
                </a:solidFill>
                <a:latin typeface="Aptos Display"/>
              </a:rPr>
              <a:t>90.5%</a:t>
            </a:r>
          </a:p>
        </p:txBody>
      </p:sp>
      <p:sp>
        <p:nvSpPr>
          <p:cNvPr id="8" name="TextBox 7"/>
          <p:cNvSpPr txBox="1"/>
          <p:nvPr/>
        </p:nvSpPr>
        <p:spPr>
          <a:xfrm>
            <a:off x="859536" y="2816352"/>
            <a:ext cx="2487168" cy="310896"/>
          </a:xfrm>
          <a:prstGeom prst="rect">
            <a:avLst/>
          </a:prstGeom>
          <a:noFill/>
        </p:spPr>
        <p:txBody>
          <a:bodyPr wrap="square" lIns="45720" rIns="45720" anchor="t">
            <a:spAutoFit/>
          </a:bodyPr>
          <a:lstStyle/>
          <a:p>
            <a:pPr algn="ctr"/>
            <a:r>
              <a:rPr sz="1300" b="1">
                <a:solidFill>
                  <a:srgbClr val="FFFFFF"/>
                </a:solidFill>
                <a:latin typeface="Aptos"/>
              </a:rPr>
              <a:t>overall test accuracy</a:t>
            </a:r>
          </a:p>
        </p:txBody>
      </p:sp>
      <p:sp>
        <p:nvSpPr>
          <p:cNvPr id="9" name="TextBox 8"/>
          <p:cNvSpPr txBox="1"/>
          <p:nvPr/>
        </p:nvSpPr>
        <p:spPr>
          <a:xfrm>
            <a:off x="859536" y="3273552"/>
            <a:ext cx="2487168" cy="420624"/>
          </a:xfrm>
          <a:prstGeom prst="rect">
            <a:avLst/>
          </a:prstGeom>
          <a:noFill/>
        </p:spPr>
        <p:txBody>
          <a:bodyPr wrap="square" lIns="45720" rIns="45720" anchor="t">
            <a:spAutoFit/>
          </a:bodyPr>
          <a:lstStyle/>
          <a:p>
            <a:pPr algn="ctr"/>
            <a:r>
              <a:rPr sz="2200" b="1">
                <a:solidFill>
                  <a:srgbClr val="FFFFFF"/>
                </a:solidFill>
                <a:latin typeface="Aptos Display"/>
              </a:rPr>
              <a:t>543 / 600</a:t>
            </a:r>
          </a:p>
        </p:txBody>
      </p:sp>
      <p:sp>
        <p:nvSpPr>
          <p:cNvPr id="10" name="TextBox 9"/>
          <p:cNvSpPr txBox="1"/>
          <p:nvPr/>
        </p:nvSpPr>
        <p:spPr>
          <a:xfrm>
            <a:off x="859536" y="3703320"/>
            <a:ext cx="2487168" cy="256032"/>
          </a:xfrm>
          <a:prstGeom prst="rect">
            <a:avLst/>
          </a:prstGeom>
          <a:noFill/>
        </p:spPr>
        <p:txBody>
          <a:bodyPr wrap="square" lIns="45720" rIns="45720" anchor="t">
            <a:spAutoFit/>
          </a:bodyPr>
          <a:lstStyle/>
          <a:p>
            <a:pPr algn="ctr"/>
            <a:r>
              <a:rPr sz="1000" b="0">
                <a:solidFill>
                  <a:srgbClr val="94A3B8"/>
                </a:solidFill>
                <a:latin typeface="Aptos"/>
              </a:rPr>
              <a:t>correct predictions</a:t>
            </a:r>
          </a:p>
        </p:txBody>
      </p:sp>
      <p:sp>
        <p:nvSpPr>
          <p:cNvPr id="11" name="Rectangle 10"/>
          <p:cNvSpPr/>
          <p:nvPr/>
        </p:nvSpPr>
        <p:spPr>
          <a:xfrm>
            <a:off x="859536" y="4315968"/>
            <a:ext cx="2487168" cy="18288"/>
          </a:xfrm>
          <a:prstGeom prst="rect">
            <a:avLst/>
          </a:prstGeom>
          <a:solidFill>
            <a:srgbClr val="334155"/>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32688" y="4617720"/>
            <a:ext cx="2340864" cy="274320"/>
          </a:xfrm>
          <a:prstGeom prst="rect">
            <a:avLst/>
          </a:prstGeom>
          <a:noFill/>
        </p:spPr>
        <p:txBody>
          <a:bodyPr wrap="square" lIns="45720" rIns="45720" anchor="t">
            <a:spAutoFit/>
          </a:bodyPr>
          <a:lstStyle/>
          <a:p>
            <a:pPr algn="l"/>
            <a:r>
              <a:rPr sz="1200" b="1">
                <a:solidFill>
                  <a:srgbClr val="CBD5E1"/>
                </a:solidFill>
                <a:latin typeface="Aptos"/>
              </a:rPr>
              <a:t>TRAIN  97.4%</a:t>
            </a:r>
          </a:p>
        </p:txBody>
      </p:sp>
      <p:sp>
        <p:nvSpPr>
          <p:cNvPr id="13" name="TextBox 12"/>
          <p:cNvSpPr txBox="1"/>
          <p:nvPr/>
        </p:nvSpPr>
        <p:spPr>
          <a:xfrm>
            <a:off x="932688" y="4983480"/>
            <a:ext cx="2340864" cy="274320"/>
          </a:xfrm>
          <a:prstGeom prst="rect">
            <a:avLst/>
          </a:prstGeom>
          <a:noFill/>
        </p:spPr>
        <p:txBody>
          <a:bodyPr wrap="square" lIns="45720" rIns="45720" anchor="t">
            <a:spAutoFit/>
          </a:bodyPr>
          <a:lstStyle/>
          <a:p>
            <a:pPr algn="l"/>
            <a:r>
              <a:rPr sz="1200" b="1">
                <a:solidFill>
                  <a:srgbClr val="5EEAD4"/>
                </a:solidFill>
                <a:latin typeface="Aptos"/>
              </a:rPr>
              <a:t>TEST    90.5%</a:t>
            </a:r>
          </a:p>
        </p:txBody>
      </p:sp>
      <p:sp>
        <p:nvSpPr>
          <p:cNvPr id="14" name="TextBox 13"/>
          <p:cNvSpPr txBox="1"/>
          <p:nvPr/>
        </p:nvSpPr>
        <p:spPr>
          <a:xfrm>
            <a:off x="932688" y="5404104"/>
            <a:ext cx="2340864" cy="274320"/>
          </a:xfrm>
          <a:prstGeom prst="rect">
            <a:avLst/>
          </a:prstGeom>
          <a:noFill/>
        </p:spPr>
        <p:txBody>
          <a:bodyPr wrap="square" lIns="45720" rIns="45720" anchor="t">
            <a:spAutoFit/>
          </a:bodyPr>
          <a:lstStyle/>
          <a:p>
            <a:pPr algn="l"/>
            <a:r>
              <a:rPr sz="1100" b="0">
                <a:solidFill>
                  <a:srgbClr val="94A3B8"/>
                </a:solidFill>
                <a:latin typeface="Aptos"/>
              </a:rPr>
              <a:t>6.9-point gap</a:t>
            </a:r>
          </a:p>
        </p:txBody>
      </p:sp>
      <p:sp>
        <p:nvSpPr>
          <p:cNvPr id="15" name="TextBox 14"/>
          <p:cNvSpPr txBox="1"/>
          <p:nvPr/>
        </p:nvSpPr>
        <p:spPr>
          <a:xfrm>
            <a:off x="4005072" y="1810512"/>
            <a:ext cx="2743200" cy="274320"/>
          </a:xfrm>
          <a:prstGeom prst="rect">
            <a:avLst/>
          </a:prstGeom>
          <a:noFill/>
        </p:spPr>
        <p:txBody>
          <a:bodyPr wrap="square" lIns="45720" rIns="45720" anchor="t">
            <a:spAutoFit/>
          </a:bodyPr>
          <a:lstStyle/>
          <a:p>
            <a:pPr algn="l"/>
            <a:r>
              <a:rPr sz="1100" b="1">
                <a:solidFill>
                  <a:srgbClr val="64748B"/>
                </a:solidFill>
                <a:latin typeface="Aptos"/>
              </a:rPr>
              <a:t>DATA SCALING</a:t>
            </a:r>
          </a:p>
        </p:txBody>
      </p:sp>
      <p:sp>
        <p:nvSpPr>
          <p:cNvPr id="16" name="TextBox 15"/>
          <p:cNvSpPr txBox="1"/>
          <p:nvPr/>
        </p:nvSpPr>
        <p:spPr>
          <a:xfrm>
            <a:off x="4005072" y="2249424"/>
            <a:ext cx="1965960" cy="256032"/>
          </a:xfrm>
          <a:prstGeom prst="rect">
            <a:avLst/>
          </a:prstGeom>
          <a:noFill/>
        </p:spPr>
        <p:txBody>
          <a:bodyPr wrap="square" lIns="45720" rIns="45720" anchor="t">
            <a:spAutoFit/>
          </a:bodyPr>
          <a:lstStyle/>
          <a:p>
            <a:pPr algn="l"/>
            <a:r>
              <a:rPr sz="1200" b="1">
                <a:solidFill>
                  <a:srgbClr val="334155"/>
                </a:solidFill>
                <a:latin typeface="Aptos"/>
              </a:rPr>
              <a:t>10% · 36 images</a:t>
            </a:r>
          </a:p>
        </p:txBody>
      </p:sp>
      <p:sp>
        <p:nvSpPr>
          <p:cNvPr id="17" name="Rounded Rectangle 16"/>
          <p:cNvSpPr/>
          <p:nvPr/>
        </p:nvSpPr>
        <p:spPr>
          <a:xfrm>
            <a:off x="5879592" y="2267712"/>
            <a:ext cx="3154680" cy="20116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879592" y="2267712"/>
            <a:ext cx="1839178" cy="201168"/>
          </a:xfrm>
          <a:prstGeom prst="roundRect">
            <a:avLst/>
          </a:prstGeom>
          <a:solidFill>
            <a:srgbClr val="F97316"/>
          </a:solidFill>
          <a:ln w="127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3999" y="2231136"/>
            <a:ext cx="685800" cy="274320"/>
          </a:xfrm>
          <a:prstGeom prst="rect">
            <a:avLst/>
          </a:prstGeom>
          <a:noFill/>
        </p:spPr>
        <p:txBody>
          <a:bodyPr wrap="square" lIns="45720" rIns="45720" anchor="t">
            <a:spAutoFit/>
          </a:bodyPr>
          <a:lstStyle/>
          <a:p>
            <a:pPr algn="l"/>
            <a:r>
              <a:rPr sz="1200" b="1">
                <a:solidFill>
                  <a:srgbClr val="F97316"/>
                </a:solidFill>
                <a:latin typeface="Aptos"/>
              </a:rPr>
              <a:t>58.3%</a:t>
            </a:r>
          </a:p>
        </p:txBody>
      </p:sp>
      <p:sp>
        <p:nvSpPr>
          <p:cNvPr id="20" name="TextBox 19"/>
          <p:cNvSpPr txBox="1"/>
          <p:nvPr/>
        </p:nvSpPr>
        <p:spPr>
          <a:xfrm>
            <a:off x="4005072" y="2505456"/>
            <a:ext cx="4754880" cy="219456"/>
          </a:xfrm>
          <a:prstGeom prst="rect">
            <a:avLst/>
          </a:prstGeom>
          <a:noFill/>
        </p:spPr>
        <p:txBody>
          <a:bodyPr wrap="square" lIns="45720" rIns="45720" anchor="t">
            <a:spAutoFit/>
          </a:bodyPr>
          <a:lstStyle/>
          <a:p>
            <a:pPr algn="l"/>
            <a:r>
              <a:rPr sz="900" b="0">
                <a:solidFill>
                  <a:srgbClr val="64748B"/>
                </a:solidFill>
                <a:latin typeface="Aptos"/>
              </a:rPr>
              <a:t>Earlier pretrained run</a:t>
            </a:r>
          </a:p>
        </p:txBody>
      </p:sp>
      <p:sp>
        <p:nvSpPr>
          <p:cNvPr id="21" name="TextBox 20"/>
          <p:cNvSpPr txBox="1"/>
          <p:nvPr/>
        </p:nvSpPr>
        <p:spPr>
          <a:xfrm>
            <a:off x="4005072" y="2926080"/>
            <a:ext cx="1965960" cy="256032"/>
          </a:xfrm>
          <a:prstGeom prst="rect">
            <a:avLst/>
          </a:prstGeom>
          <a:noFill/>
        </p:spPr>
        <p:txBody>
          <a:bodyPr wrap="square" lIns="45720" rIns="45720" anchor="t">
            <a:spAutoFit/>
          </a:bodyPr>
          <a:lstStyle/>
          <a:p>
            <a:pPr algn="l"/>
            <a:r>
              <a:rPr sz="1200" b="1">
                <a:solidFill>
                  <a:srgbClr val="334155"/>
                </a:solidFill>
                <a:latin typeface="Aptos"/>
              </a:rPr>
              <a:t>100% · 3,000 images</a:t>
            </a:r>
          </a:p>
        </p:txBody>
      </p:sp>
      <p:sp>
        <p:nvSpPr>
          <p:cNvPr id="22" name="Rounded Rectangle 21"/>
          <p:cNvSpPr/>
          <p:nvPr/>
        </p:nvSpPr>
        <p:spPr>
          <a:xfrm>
            <a:off x="5879592" y="2944368"/>
            <a:ext cx="3154680" cy="20116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879592" y="2944368"/>
            <a:ext cx="2854985" cy="201168"/>
          </a:xfrm>
          <a:prstGeom prst="roundRect">
            <a:avLst/>
          </a:prstGeom>
          <a:solidFill>
            <a:srgbClr val="0F766E"/>
          </a:solidFill>
          <a:ln w="12700">
            <a:solidFill>
              <a:srgbClr val="0F76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3999" y="2907792"/>
            <a:ext cx="685800" cy="274320"/>
          </a:xfrm>
          <a:prstGeom prst="rect">
            <a:avLst/>
          </a:prstGeom>
          <a:noFill/>
        </p:spPr>
        <p:txBody>
          <a:bodyPr wrap="square" lIns="45720" rIns="45720" anchor="t">
            <a:spAutoFit/>
          </a:bodyPr>
          <a:lstStyle/>
          <a:p>
            <a:pPr algn="l"/>
            <a:r>
              <a:rPr sz="1200" b="1">
                <a:solidFill>
                  <a:srgbClr val="0F766E"/>
                </a:solidFill>
                <a:latin typeface="Aptos"/>
              </a:rPr>
              <a:t>90.5%</a:t>
            </a:r>
          </a:p>
        </p:txBody>
      </p:sp>
      <p:sp>
        <p:nvSpPr>
          <p:cNvPr id="25" name="TextBox 24"/>
          <p:cNvSpPr txBox="1"/>
          <p:nvPr/>
        </p:nvSpPr>
        <p:spPr>
          <a:xfrm>
            <a:off x="4005072" y="3182112"/>
            <a:ext cx="4754880" cy="219456"/>
          </a:xfrm>
          <a:prstGeom prst="rect">
            <a:avLst/>
          </a:prstGeom>
          <a:noFill/>
        </p:spPr>
        <p:txBody>
          <a:bodyPr wrap="square" lIns="45720" rIns="45720" anchor="t">
            <a:spAutoFit/>
          </a:bodyPr>
          <a:lstStyle/>
          <a:p>
            <a:pPr algn="l"/>
            <a:r>
              <a:rPr sz="900" b="0">
                <a:solidFill>
                  <a:srgbClr val="64748B"/>
                </a:solidFill>
                <a:latin typeface="Aptos"/>
              </a:rPr>
              <a:t>Current validated run</a:t>
            </a:r>
          </a:p>
        </p:txBody>
      </p:sp>
      <p:sp>
        <p:nvSpPr>
          <p:cNvPr id="26" name="Rounded Rectangle 25"/>
          <p:cNvSpPr/>
          <p:nvPr/>
        </p:nvSpPr>
        <p:spPr>
          <a:xfrm>
            <a:off x="4005072" y="3602736"/>
            <a:ext cx="7296912" cy="585216"/>
          </a:xfrm>
          <a:prstGeom prst="roundRect">
            <a:avLst/>
          </a:prstGeom>
          <a:solidFill>
            <a:srgbClr val="CCFBF1"/>
          </a:solidFill>
          <a:ln w="12700">
            <a:solidFill>
              <a:srgbClr val="CCF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87952" y="3602736"/>
            <a:ext cx="6931152" cy="585216"/>
          </a:xfrm>
          <a:prstGeom prst="rect">
            <a:avLst/>
          </a:prstGeom>
          <a:noFill/>
        </p:spPr>
        <p:txBody>
          <a:bodyPr wrap="square" lIns="45720" rIns="45720" anchor="ctr">
            <a:spAutoFit/>
          </a:bodyPr>
          <a:lstStyle/>
          <a:p>
            <a:pPr algn="ctr"/>
            <a:r>
              <a:rPr sz="1300" b="1">
                <a:solidFill>
                  <a:srgbClr val="0F766E"/>
                </a:solidFill>
                <a:latin typeface="Aptos"/>
              </a:rPr>
              <a:t>+32.2 percentage points from using the complete training pool</a:t>
            </a:r>
          </a:p>
        </p:txBody>
      </p:sp>
      <p:sp>
        <p:nvSpPr>
          <p:cNvPr id="28" name="TextBox 27"/>
          <p:cNvSpPr txBox="1"/>
          <p:nvPr/>
        </p:nvSpPr>
        <p:spPr>
          <a:xfrm>
            <a:off x="4005072" y="4507992"/>
            <a:ext cx="2743200" cy="274320"/>
          </a:xfrm>
          <a:prstGeom prst="rect">
            <a:avLst/>
          </a:prstGeom>
          <a:noFill/>
        </p:spPr>
        <p:txBody>
          <a:bodyPr wrap="square" lIns="45720" rIns="45720" anchor="t">
            <a:spAutoFit/>
          </a:bodyPr>
          <a:lstStyle/>
          <a:p>
            <a:pPr algn="l"/>
            <a:r>
              <a:rPr sz="1100" b="1">
                <a:solidFill>
                  <a:srgbClr val="64748B"/>
                </a:solidFill>
                <a:latin typeface="Aptos"/>
              </a:rPr>
              <a:t>PER-CLASS ACCURACY</a:t>
            </a:r>
          </a:p>
        </p:txBody>
      </p:sp>
      <p:sp>
        <p:nvSpPr>
          <p:cNvPr id="29" name="TextBox 28"/>
          <p:cNvSpPr txBox="1"/>
          <p:nvPr/>
        </p:nvSpPr>
        <p:spPr>
          <a:xfrm>
            <a:off x="4005072" y="4892040"/>
            <a:ext cx="1965960" cy="256032"/>
          </a:xfrm>
          <a:prstGeom prst="rect">
            <a:avLst/>
          </a:prstGeom>
          <a:noFill/>
        </p:spPr>
        <p:txBody>
          <a:bodyPr wrap="square" lIns="45720" rIns="45720" anchor="t">
            <a:spAutoFit/>
          </a:bodyPr>
          <a:lstStyle/>
          <a:p>
            <a:pPr algn="l"/>
            <a:r>
              <a:rPr sz="1200" b="1">
                <a:solidFill>
                  <a:srgbClr val="334155"/>
                </a:solidFill>
                <a:latin typeface="Aptos"/>
              </a:rPr>
              <a:t>Clear</a:t>
            </a:r>
          </a:p>
        </p:txBody>
      </p:sp>
      <p:sp>
        <p:nvSpPr>
          <p:cNvPr id="30" name="Rounded Rectangle 29"/>
          <p:cNvSpPr/>
          <p:nvPr/>
        </p:nvSpPr>
        <p:spPr>
          <a:xfrm>
            <a:off x="5879592" y="4910327"/>
            <a:ext cx="3154680" cy="20116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5879592" y="4910327"/>
            <a:ext cx="2949625" cy="201168"/>
          </a:xfrm>
          <a:prstGeom prst="roundRect">
            <a:avLst/>
          </a:prstGeom>
          <a:solidFill>
            <a:srgbClr val="0284C7"/>
          </a:solidFill>
          <a:ln w="1270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143999" y="4873752"/>
            <a:ext cx="685800" cy="274320"/>
          </a:xfrm>
          <a:prstGeom prst="rect">
            <a:avLst/>
          </a:prstGeom>
          <a:noFill/>
        </p:spPr>
        <p:txBody>
          <a:bodyPr wrap="square" lIns="45720" rIns="45720" anchor="t">
            <a:spAutoFit/>
          </a:bodyPr>
          <a:lstStyle/>
          <a:p>
            <a:pPr algn="l"/>
            <a:r>
              <a:rPr sz="1200" b="1">
                <a:solidFill>
                  <a:srgbClr val="0284C7"/>
                </a:solidFill>
                <a:latin typeface="Aptos"/>
              </a:rPr>
              <a:t>93.5%</a:t>
            </a:r>
          </a:p>
        </p:txBody>
      </p:sp>
      <p:sp>
        <p:nvSpPr>
          <p:cNvPr id="33" name="TextBox 32"/>
          <p:cNvSpPr txBox="1"/>
          <p:nvPr/>
        </p:nvSpPr>
        <p:spPr>
          <a:xfrm>
            <a:off x="4005072" y="5321808"/>
            <a:ext cx="1965960" cy="256032"/>
          </a:xfrm>
          <a:prstGeom prst="rect">
            <a:avLst/>
          </a:prstGeom>
          <a:noFill/>
        </p:spPr>
        <p:txBody>
          <a:bodyPr wrap="square" lIns="45720" rIns="45720" anchor="t">
            <a:spAutoFit/>
          </a:bodyPr>
          <a:lstStyle/>
          <a:p>
            <a:pPr algn="l"/>
            <a:r>
              <a:rPr sz="1200" b="1">
                <a:solidFill>
                  <a:srgbClr val="334155"/>
                </a:solidFill>
                <a:latin typeface="Aptos"/>
              </a:rPr>
              <a:t>Partially occluded</a:t>
            </a:r>
          </a:p>
        </p:txBody>
      </p:sp>
      <p:sp>
        <p:nvSpPr>
          <p:cNvPr id="34" name="Rounded Rectangle 33"/>
          <p:cNvSpPr/>
          <p:nvPr/>
        </p:nvSpPr>
        <p:spPr>
          <a:xfrm>
            <a:off x="5879592" y="5340096"/>
            <a:ext cx="3154680" cy="20116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5879592" y="5340096"/>
            <a:ext cx="2870758" cy="201168"/>
          </a:xfrm>
          <a:prstGeom prst="roundRect">
            <a:avLst/>
          </a:prstGeom>
          <a:solidFill>
            <a:srgbClr val="F97316"/>
          </a:solidFill>
          <a:ln w="12700">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143999" y="5303520"/>
            <a:ext cx="685800" cy="274320"/>
          </a:xfrm>
          <a:prstGeom prst="rect">
            <a:avLst/>
          </a:prstGeom>
          <a:noFill/>
        </p:spPr>
        <p:txBody>
          <a:bodyPr wrap="square" lIns="45720" rIns="45720" anchor="t">
            <a:spAutoFit/>
          </a:bodyPr>
          <a:lstStyle/>
          <a:p>
            <a:pPr algn="l"/>
            <a:r>
              <a:rPr sz="1200" b="1">
                <a:solidFill>
                  <a:srgbClr val="F97316"/>
                </a:solidFill>
                <a:latin typeface="Aptos"/>
              </a:rPr>
              <a:t>91.0%</a:t>
            </a:r>
          </a:p>
        </p:txBody>
      </p:sp>
      <p:sp>
        <p:nvSpPr>
          <p:cNvPr id="37" name="TextBox 36"/>
          <p:cNvSpPr txBox="1"/>
          <p:nvPr/>
        </p:nvSpPr>
        <p:spPr>
          <a:xfrm>
            <a:off x="4005072" y="5751576"/>
            <a:ext cx="1965960" cy="256032"/>
          </a:xfrm>
          <a:prstGeom prst="rect">
            <a:avLst/>
          </a:prstGeom>
          <a:noFill/>
        </p:spPr>
        <p:txBody>
          <a:bodyPr wrap="square" lIns="45720" rIns="45720" anchor="t">
            <a:spAutoFit/>
          </a:bodyPr>
          <a:lstStyle/>
          <a:p>
            <a:pPr algn="l"/>
            <a:r>
              <a:rPr sz="1200" b="1">
                <a:solidFill>
                  <a:srgbClr val="334155"/>
                </a:solidFill>
                <a:latin typeface="Aptos"/>
              </a:rPr>
              <a:t>Heavily occluded</a:t>
            </a:r>
          </a:p>
        </p:txBody>
      </p:sp>
      <p:sp>
        <p:nvSpPr>
          <p:cNvPr id="38" name="Rounded Rectangle 37"/>
          <p:cNvSpPr/>
          <p:nvPr/>
        </p:nvSpPr>
        <p:spPr>
          <a:xfrm>
            <a:off x="5879592" y="5769864"/>
            <a:ext cx="3154680" cy="201168"/>
          </a:xfrm>
          <a:prstGeom prst="roundRect">
            <a:avLst/>
          </a:prstGeom>
          <a:solidFill>
            <a:srgbClr val="E2E8F0"/>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5879592" y="5769864"/>
            <a:ext cx="2744571" cy="201168"/>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3999" y="5733288"/>
            <a:ext cx="685800" cy="274320"/>
          </a:xfrm>
          <a:prstGeom prst="rect">
            <a:avLst/>
          </a:prstGeom>
          <a:noFill/>
        </p:spPr>
        <p:txBody>
          <a:bodyPr wrap="square" lIns="45720" rIns="45720" anchor="t">
            <a:spAutoFit/>
          </a:bodyPr>
          <a:lstStyle/>
          <a:p>
            <a:pPr algn="l"/>
            <a:r>
              <a:rPr sz="1200" b="1">
                <a:solidFill>
                  <a:srgbClr val="0F172A"/>
                </a:solidFill>
                <a:latin typeface="Aptos"/>
              </a:rPr>
              <a:t>87.0%</a:t>
            </a:r>
          </a:p>
        </p:txBody>
      </p:sp>
      <p:sp>
        <p:nvSpPr>
          <p:cNvPr id="41" name="TextBox 40"/>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8FAFC"/>
        </a:solidFill>
        <a:effectLst/>
      </p:bgPr>
    </p:bg>
    <p:spTree>
      <p:nvGrpSpPr>
        <p:cNvPr id="1" name=""/>
        <p:cNvGrpSpPr/>
        <p:nvPr/>
      </p:nvGrpSpPr>
      <p:grpSpPr/>
      <p:sp>
        <p:nvSpPr>
          <p:cNvPr id="2" name="TextBox 1"/>
          <p:cNvSpPr txBox="1"/>
          <p:nvPr/>
        </p:nvSpPr>
        <p:spPr>
          <a:xfrm>
            <a:off x="530352" y="347472"/>
            <a:ext cx="1005840" cy="274320"/>
          </a:xfrm>
          <a:prstGeom prst="rect">
            <a:avLst/>
          </a:prstGeom>
          <a:noFill/>
        </p:spPr>
        <p:txBody>
          <a:bodyPr wrap="square" lIns="45720" rIns="45720" anchor="t">
            <a:spAutoFit/>
          </a:bodyPr>
          <a:lstStyle/>
          <a:p>
            <a:pPr algn="l"/>
            <a:r>
              <a:rPr sz="1000" b="1">
                <a:solidFill>
                  <a:srgbClr val="0F766E"/>
                </a:solidFill>
                <a:latin typeface="Aptos"/>
              </a:rPr>
              <a:t>07  /  07</a:t>
            </a:r>
          </a:p>
        </p:txBody>
      </p:sp>
      <p:sp>
        <p:nvSpPr>
          <p:cNvPr id="3" name="TextBox 2"/>
          <p:cNvSpPr txBox="1"/>
          <p:nvPr/>
        </p:nvSpPr>
        <p:spPr>
          <a:xfrm>
            <a:off x="1581912" y="347472"/>
            <a:ext cx="4846320" cy="274320"/>
          </a:xfrm>
          <a:prstGeom prst="rect">
            <a:avLst/>
          </a:prstGeom>
          <a:noFill/>
        </p:spPr>
        <p:txBody>
          <a:bodyPr wrap="square" lIns="45720" rIns="45720" anchor="t">
            <a:spAutoFit/>
          </a:bodyPr>
          <a:lstStyle/>
          <a:p>
            <a:pPr algn="l"/>
            <a:r>
              <a:rPr sz="1000" b="1">
                <a:solidFill>
                  <a:srgbClr val="64748B"/>
                </a:solidFill>
                <a:latin typeface="Aptos"/>
              </a:rPr>
              <a:t>LEARNING AND NEXT STEPS</a:t>
            </a:r>
          </a:p>
        </p:txBody>
      </p:sp>
      <p:sp>
        <p:nvSpPr>
          <p:cNvPr id="4" name="TextBox 3"/>
          <p:cNvSpPr txBox="1"/>
          <p:nvPr/>
        </p:nvSpPr>
        <p:spPr>
          <a:xfrm>
            <a:off x="530352" y="749808"/>
            <a:ext cx="10972800" cy="566928"/>
          </a:xfrm>
          <a:prstGeom prst="rect">
            <a:avLst/>
          </a:prstGeom>
          <a:noFill/>
        </p:spPr>
        <p:txBody>
          <a:bodyPr wrap="square" lIns="45720" rIns="45720" anchor="t">
            <a:spAutoFit/>
          </a:bodyPr>
          <a:lstStyle/>
          <a:p>
            <a:pPr algn="l"/>
            <a:r>
              <a:rPr sz="2800" b="1">
                <a:solidFill>
                  <a:srgbClr val="0F172A"/>
                </a:solidFill>
                <a:latin typeface="Aptos Display"/>
              </a:rPr>
              <a:t>What the Experiment Changed</a:t>
            </a:r>
          </a:p>
        </p:txBody>
      </p:sp>
      <p:sp>
        <p:nvSpPr>
          <p:cNvPr id="5" name="Rectangle 4"/>
          <p:cNvSpPr/>
          <p:nvPr/>
        </p:nvSpPr>
        <p:spPr>
          <a:xfrm>
            <a:off x="530352" y="1389888"/>
            <a:ext cx="11109960" cy="22860"/>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03504" y="1737360"/>
            <a:ext cx="3931920" cy="274320"/>
          </a:xfrm>
          <a:prstGeom prst="rect">
            <a:avLst/>
          </a:prstGeom>
          <a:noFill/>
        </p:spPr>
        <p:txBody>
          <a:bodyPr wrap="square" lIns="45720" rIns="45720" anchor="t">
            <a:spAutoFit/>
          </a:bodyPr>
          <a:lstStyle/>
          <a:p>
            <a:pPr algn="l"/>
            <a:r>
              <a:rPr sz="1100" b="1">
                <a:solidFill>
                  <a:srgbClr val="64748B"/>
                </a:solidFill>
                <a:latin typeface="Aptos"/>
              </a:rPr>
              <a:t>CONTROLLED DATA-SCALING STATUS</a:t>
            </a:r>
          </a:p>
        </p:txBody>
      </p:sp>
      <p:sp>
        <p:nvSpPr>
          <p:cNvPr id="7" name="Oval 6"/>
          <p:cNvSpPr/>
          <p:nvPr/>
        </p:nvSpPr>
        <p:spPr>
          <a:xfrm>
            <a:off x="749808" y="2212848"/>
            <a:ext cx="475488" cy="47548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8" name="TextBox 7"/>
          <p:cNvSpPr txBox="1"/>
          <p:nvPr/>
        </p:nvSpPr>
        <p:spPr>
          <a:xfrm>
            <a:off x="585215" y="2798064"/>
            <a:ext cx="804672" cy="274320"/>
          </a:xfrm>
          <a:prstGeom prst="rect">
            <a:avLst/>
          </a:prstGeom>
          <a:noFill/>
        </p:spPr>
        <p:txBody>
          <a:bodyPr wrap="square" lIns="45720" rIns="45720" anchor="t">
            <a:spAutoFit/>
          </a:bodyPr>
          <a:lstStyle/>
          <a:p>
            <a:pPr algn="ctr"/>
            <a:r>
              <a:rPr sz="1200" b="1">
                <a:solidFill>
                  <a:srgbClr val="0F172A"/>
                </a:solidFill>
                <a:latin typeface="Aptos"/>
              </a:rPr>
              <a:t>10%</a:t>
            </a:r>
          </a:p>
        </p:txBody>
      </p:sp>
      <p:sp>
        <p:nvSpPr>
          <p:cNvPr id="9" name="TextBox 8"/>
          <p:cNvSpPr txBox="1"/>
          <p:nvPr/>
        </p:nvSpPr>
        <p:spPr>
          <a:xfrm>
            <a:off x="521207" y="3108960"/>
            <a:ext cx="932688" cy="237744"/>
          </a:xfrm>
          <a:prstGeom prst="rect">
            <a:avLst/>
          </a:prstGeom>
          <a:noFill/>
        </p:spPr>
        <p:txBody>
          <a:bodyPr wrap="square" lIns="45720" rIns="45720" anchor="t">
            <a:spAutoFit/>
          </a:bodyPr>
          <a:lstStyle/>
          <a:p>
            <a:pPr algn="ctr"/>
            <a:r>
              <a:rPr sz="900" b="0">
                <a:solidFill>
                  <a:srgbClr val="0F766E"/>
                </a:solidFill>
                <a:latin typeface="Aptos"/>
              </a:rPr>
              <a:t>58.3%</a:t>
            </a:r>
          </a:p>
        </p:txBody>
      </p:sp>
      <p:sp>
        <p:nvSpPr>
          <p:cNvPr id="10" name="Rectangle 9"/>
          <p:cNvSpPr/>
          <p:nvPr/>
        </p:nvSpPr>
        <p:spPr>
          <a:xfrm>
            <a:off x="1243584" y="2432304"/>
            <a:ext cx="868680" cy="3200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2121408" y="2212848"/>
            <a:ext cx="475488" cy="475488"/>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12" name="TextBox 11"/>
          <p:cNvSpPr txBox="1"/>
          <p:nvPr/>
        </p:nvSpPr>
        <p:spPr>
          <a:xfrm>
            <a:off x="1956815" y="2798064"/>
            <a:ext cx="804672" cy="274320"/>
          </a:xfrm>
          <a:prstGeom prst="rect">
            <a:avLst/>
          </a:prstGeom>
          <a:noFill/>
        </p:spPr>
        <p:txBody>
          <a:bodyPr wrap="square" lIns="45720" rIns="45720" anchor="t">
            <a:spAutoFit/>
          </a:bodyPr>
          <a:lstStyle/>
          <a:p>
            <a:pPr algn="ctr"/>
            <a:r>
              <a:rPr sz="1200" b="1">
                <a:solidFill>
                  <a:srgbClr val="64748B"/>
                </a:solidFill>
                <a:latin typeface="Aptos"/>
              </a:rPr>
              <a:t>25%</a:t>
            </a:r>
          </a:p>
        </p:txBody>
      </p:sp>
      <p:sp>
        <p:nvSpPr>
          <p:cNvPr id="13" name="TextBox 12"/>
          <p:cNvSpPr txBox="1"/>
          <p:nvPr/>
        </p:nvSpPr>
        <p:spPr>
          <a:xfrm>
            <a:off x="1892807" y="3108960"/>
            <a:ext cx="932688" cy="237744"/>
          </a:xfrm>
          <a:prstGeom prst="rect">
            <a:avLst/>
          </a:prstGeom>
          <a:noFill/>
        </p:spPr>
        <p:txBody>
          <a:bodyPr wrap="square" lIns="45720" rIns="45720" anchor="t">
            <a:spAutoFit/>
          </a:bodyPr>
          <a:lstStyle/>
          <a:p>
            <a:pPr algn="ctr"/>
            <a:r>
              <a:rPr sz="900" b="0">
                <a:solidFill>
                  <a:srgbClr val="64748B"/>
                </a:solidFill>
                <a:latin typeface="Aptos"/>
              </a:rPr>
              <a:t>pending</a:t>
            </a:r>
          </a:p>
        </p:txBody>
      </p:sp>
      <p:sp>
        <p:nvSpPr>
          <p:cNvPr id="14" name="Rectangle 13"/>
          <p:cNvSpPr/>
          <p:nvPr/>
        </p:nvSpPr>
        <p:spPr>
          <a:xfrm>
            <a:off x="2615184" y="2432304"/>
            <a:ext cx="868680" cy="3200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493008" y="2212848"/>
            <a:ext cx="475488" cy="475488"/>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16" name="TextBox 15"/>
          <p:cNvSpPr txBox="1"/>
          <p:nvPr/>
        </p:nvSpPr>
        <p:spPr>
          <a:xfrm>
            <a:off x="3328415" y="2798064"/>
            <a:ext cx="804672" cy="274320"/>
          </a:xfrm>
          <a:prstGeom prst="rect">
            <a:avLst/>
          </a:prstGeom>
          <a:noFill/>
        </p:spPr>
        <p:txBody>
          <a:bodyPr wrap="square" lIns="45720" rIns="45720" anchor="t">
            <a:spAutoFit/>
          </a:bodyPr>
          <a:lstStyle/>
          <a:p>
            <a:pPr algn="ctr"/>
            <a:r>
              <a:rPr sz="1200" b="1">
                <a:solidFill>
                  <a:srgbClr val="64748B"/>
                </a:solidFill>
                <a:latin typeface="Aptos"/>
              </a:rPr>
              <a:t>50%</a:t>
            </a:r>
          </a:p>
        </p:txBody>
      </p:sp>
      <p:sp>
        <p:nvSpPr>
          <p:cNvPr id="17" name="TextBox 16"/>
          <p:cNvSpPr txBox="1"/>
          <p:nvPr/>
        </p:nvSpPr>
        <p:spPr>
          <a:xfrm>
            <a:off x="3264408" y="3108960"/>
            <a:ext cx="932688" cy="237744"/>
          </a:xfrm>
          <a:prstGeom prst="rect">
            <a:avLst/>
          </a:prstGeom>
          <a:noFill/>
        </p:spPr>
        <p:txBody>
          <a:bodyPr wrap="square" lIns="45720" rIns="45720" anchor="t">
            <a:spAutoFit/>
          </a:bodyPr>
          <a:lstStyle/>
          <a:p>
            <a:pPr algn="ctr"/>
            <a:r>
              <a:rPr sz="900" b="0">
                <a:solidFill>
                  <a:srgbClr val="64748B"/>
                </a:solidFill>
                <a:latin typeface="Aptos"/>
              </a:rPr>
              <a:t>pending</a:t>
            </a:r>
          </a:p>
        </p:txBody>
      </p:sp>
      <p:sp>
        <p:nvSpPr>
          <p:cNvPr id="18" name="Rectangle 17"/>
          <p:cNvSpPr/>
          <p:nvPr/>
        </p:nvSpPr>
        <p:spPr>
          <a:xfrm>
            <a:off x="3986783" y="2432304"/>
            <a:ext cx="868680" cy="3200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4864608" y="2212848"/>
            <a:ext cx="475488" cy="475488"/>
          </a:xfrm>
          <a:prstGeom prst="ellipse">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20" name="TextBox 19"/>
          <p:cNvSpPr txBox="1"/>
          <p:nvPr/>
        </p:nvSpPr>
        <p:spPr>
          <a:xfrm>
            <a:off x="4700016" y="2798064"/>
            <a:ext cx="804672" cy="274320"/>
          </a:xfrm>
          <a:prstGeom prst="rect">
            <a:avLst/>
          </a:prstGeom>
          <a:noFill/>
        </p:spPr>
        <p:txBody>
          <a:bodyPr wrap="square" lIns="45720" rIns="45720" anchor="t">
            <a:spAutoFit/>
          </a:bodyPr>
          <a:lstStyle/>
          <a:p>
            <a:pPr algn="ctr"/>
            <a:r>
              <a:rPr sz="1200" b="1">
                <a:solidFill>
                  <a:srgbClr val="64748B"/>
                </a:solidFill>
                <a:latin typeface="Aptos"/>
              </a:rPr>
              <a:t>75%</a:t>
            </a:r>
          </a:p>
        </p:txBody>
      </p:sp>
      <p:sp>
        <p:nvSpPr>
          <p:cNvPr id="21" name="TextBox 20"/>
          <p:cNvSpPr txBox="1"/>
          <p:nvPr/>
        </p:nvSpPr>
        <p:spPr>
          <a:xfrm>
            <a:off x="4636008" y="3108960"/>
            <a:ext cx="932688" cy="237744"/>
          </a:xfrm>
          <a:prstGeom prst="rect">
            <a:avLst/>
          </a:prstGeom>
          <a:noFill/>
        </p:spPr>
        <p:txBody>
          <a:bodyPr wrap="square" lIns="45720" rIns="45720" anchor="t">
            <a:spAutoFit/>
          </a:bodyPr>
          <a:lstStyle/>
          <a:p>
            <a:pPr algn="ctr"/>
            <a:r>
              <a:rPr sz="900" b="0">
                <a:solidFill>
                  <a:srgbClr val="64748B"/>
                </a:solidFill>
                <a:latin typeface="Aptos"/>
              </a:rPr>
              <a:t>pending</a:t>
            </a:r>
          </a:p>
        </p:txBody>
      </p:sp>
      <p:sp>
        <p:nvSpPr>
          <p:cNvPr id="22" name="Rectangle 21"/>
          <p:cNvSpPr/>
          <p:nvPr/>
        </p:nvSpPr>
        <p:spPr>
          <a:xfrm>
            <a:off x="5358384" y="2432304"/>
            <a:ext cx="868680" cy="32004"/>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6236208" y="2212848"/>
            <a:ext cx="475488" cy="475488"/>
          </a:xfrm>
          <a:prstGeom prst="ellipse">
            <a:avLst/>
          </a:prstGeom>
          <a:solidFill>
            <a:srgbClr val="0F76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500" b="1">
                <a:solidFill>
                  <a:srgbClr val="FFFFFF"/>
                </a:solidFill>
                <a:latin typeface="Aptos Display"/>
              </a:rPr>
              <a:t>✓</a:t>
            </a:r>
          </a:p>
        </p:txBody>
      </p:sp>
      <p:sp>
        <p:nvSpPr>
          <p:cNvPr id="24" name="TextBox 23"/>
          <p:cNvSpPr txBox="1"/>
          <p:nvPr/>
        </p:nvSpPr>
        <p:spPr>
          <a:xfrm>
            <a:off x="6071616" y="2798064"/>
            <a:ext cx="804672" cy="274320"/>
          </a:xfrm>
          <a:prstGeom prst="rect">
            <a:avLst/>
          </a:prstGeom>
          <a:noFill/>
        </p:spPr>
        <p:txBody>
          <a:bodyPr wrap="square" lIns="45720" rIns="45720" anchor="t">
            <a:spAutoFit/>
          </a:bodyPr>
          <a:lstStyle/>
          <a:p>
            <a:pPr algn="ctr"/>
            <a:r>
              <a:rPr sz="1200" b="1">
                <a:solidFill>
                  <a:srgbClr val="0F172A"/>
                </a:solidFill>
                <a:latin typeface="Aptos"/>
              </a:rPr>
              <a:t>100%</a:t>
            </a:r>
          </a:p>
        </p:txBody>
      </p:sp>
      <p:sp>
        <p:nvSpPr>
          <p:cNvPr id="25" name="TextBox 24"/>
          <p:cNvSpPr txBox="1"/>
          <p:nvPr/>
        </p:nvSpPr>
        <p:spPr>
          <a:xfrm>
            <a:off x="6007608" y="3108960"/>
            <a:ext cx="932688" cy="237744"/>
          </a:xfrm>
          <a:prstGeom prst="rect">
            <a:avLst/>
          </a:prstGeom>
          <a:noFill/>
        </p:spPr>
        <p:txBody>
          <a:bodyPr wrap="square" lIns="45720" rIns="45720" anchor="t">
            <a:spAutoFit/>
          </a:bodyPr>
          <a:lstStyle/>
          <a:p>
            <a:pPr algn="ctr"/>
            <a:r>
              <a:rPr sz="900" b="0">
                <a:solidFill>
                  <a:srgbClr val="0F766E"/>
                </a:solidFill>
                <a:latin typeface="Aptos"/>
              </a:rPr>
              <a:t>90.5%</a:t>
            </a:r>
          </a:p>
        </p:txBody>
      </p:sp>
      <p:sp>
        <p:nvSpPr>
          <p:cNvPr id="26" name="Rounded Rectangle 25"/>
          <p:cNvSpPr/>
          <p:nvPr/>
        </p:nvSpPr>
        <p:spPr>
          <a:xfrm>
            <a:off x="603504" y="3785615"/>
            <a:ext cx="6839712" cy="1700784"/>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9536" y="4041648"/>
            <a:ext cx="2194560" cy="274320"/>
          </a:xfrm>
          <a:prstGeom prst="rect">
            <a:avLst/>
          </a:prstGeom>
          <a:noFill/>
        </p:spPr>
        <p:txBody>
          <a:bodyPr wrap="square" lIns="45720" rIns="45720" anchor="t">
            <a:spAutoFit/>
          </a:bodyPr>
          <a:lstStyle/>
          <a:p>
            <a:pPr algn="l"/>
            <a:r>
              <a:rPr sz="1200" b="1">
                <a:solidFill>
                  <a:srgbClr val="0F766E"/>
                </a:solidFill>
                <a:latin typeface="Aptos"/>
              </a:rPr>
              <a:t>WHAT I LEARNED</a:t>
            </a:r>
          </a:p>
        </p:txBody>
      </p:sp>
      <p:sp>
        <p:nvSpPr>
          <p:cNvPr id="28" name="TextBox 27"/>
          <p:cNvSpPr txBox="1"/>
          <p:nvPr/>
        </p:nvSpPr>
        <p:spPr>
          <a:xfrm>
            <a:off x="859536" y="4443984"/>
            <a:ext cx="6236208" cy="868680"/>
          </a:xfrm>
          <a:prstGeom prst="rect">
            <a:avLst/>
          </a:prstGeom>
          <a:noFill/>
        </p:spPr>
        <p:txBody>
          <a:bodyPr wrap="square" lIns="73152" rIns="73152" tIns="36576" bIns="36576">
            <a:spAutoFit/>
          </a:bodyPr>
          <a:lstStyle/>
          <a:p>
            <a:pPr>
              <a:spcAft>
                <a:spcPts val="500"/>
              </a:spcAft>
              <a:defRPr sz="1200">
                <a:solidFill>
                  <a:srgbClr val="334155"/>
                </a:solidFill>
                <a:latin typeface="Aptos"/>
              </a:defRPr>
            </a:pPr>
            <a:r>
              <a:t>•  A tiny training set can be memorized without generalizing.</a:t>
            </a:r>
          </a:p>
          <a:p>
            <a:pPr>
              <a:spcAft>
                <a:spcPts val="500"/>
              </a:spcAft>
              <a:defRPr sz="1200">
                <a:solidFill>
                  <a:srgbClr val="334155"/>
                </a:solidFill>
                <a:latin typeface="Aptos"/>
              </a:defRPr>
            </a:pPr>
            <a:r>
              <a:t>•  Data design and infrastructure changed accuracy more than another model tweak.</a:t>
            </a:r>
          </a:p>
          <a:p>
            <a:pPr>
              <a:spcAft>
                <a:spcPts val="500"/>
              </a:spcAft>
              <a:defRPr sz="1200">
                <a:solidFill>
                  <a:srgbClr val="334155"/>
                </a:solidFill>
                <a:latin typeface="Aptos"/>
              </a:defRPr>
            </a:pPr>
            <a:r>
              <a:t>•  The full test set and class-level metrics made the improvement defensible.</a:t>
            </a:r>
          </a:p>
        </p:txBody>
      </p:sp>
      <p:sp>
        <p:nvSpPr>
          <p:cNvPr id="29" name="Rounded Rectangle 28"/>
          <p:cNvSpPr/>
          <p:nvPr/>
        </p:nvSpPr>
        <p:spPr>
          <a:xfrm>
            <a:off x="7754112" y="1737360"/>
            <a:ext cx="3822191" cy="3749039"/>
          </a:xfrm>
          <a:prstGeom prst="roundRect">
            <a:avLst/>
          </a:prstGeom>
          <a:solidFill>
            <a:srgbClr val="0F172A"/>
          </a:solidFill>
          <a:ln w="1270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028431" y="2011680"/>
            <a:ext cx="2377440" cy="310896"/>
          </a:xfrm>
          <a:prstGeom prst="rect">
            <a:avLst/>
          </a:prstGeom>
          <a:noFill/>
        </p:spPr>
        <p:txBody>
          <a:bodyPr wrap="square" lIns="45720" rIns="45720" anchor="t">
            <a:spAutoFit/>
          </a:bodyPr>
          <a:lstStyle/>
          <a:p>
            <a:pPr algn="l"/>
            <a:r>
              <a:rPr sz="1300" b="1">
                <a:solidFill>
                  <a:srgbClr val="5EEAD4"/>
                </a:solidFill>
                <a:latin typeface="Aptos"/>
              </a:rPr>
              <a:t>NEXT STEPS</a:t>
            </a:r>
          </a:p>
        </p:txBody>
      </p:sp>
      <p:sp>
        <p:nvSpPr>
          <p:cNvPr id="31" name="TextBox 30"/>
          <p:cNvSpPr txBox="1"/>
          <p:nvPr/>
        </p:nvSpPr>
        <p:spPr>
          <a:xfrm>
            <a:off x="8028431" y="2523744"/>
            <a:ext cx="3182112" cy="2395728"/>
          </a:xfrm>
          <a:prstGeom prst="rect">
            <a:avLst/>
          </a:prstGeom>
          <a:noFill/>
        </p:spPr>
        <p:txBody>
          <a:bodyPr wrap="square" lIns="73152" rIns="73152" tIns="36576" bIns="36576">
            <a:spAutoFit/>
          </a:bodyPr>
          <a:lstStyle/>
          <a:p>
            <a:pPr>
              <a:spcAft>
                <a:spcPts val="800"/>
              </a:spcAft>
              <a:defRPr sz="1200">
                <a:solidFill>
                  <a:srgbClr val="FFFFFF"/>
                </a:solidFill>
                <a:latin typeface="Aptos"/>
              </a:defRPr>
            </a:pPr>
            <a:r>
              <a:t>•  Run 25% / 50% / 75% to map the full scaling curve.</a:t>
            </a:r>
          </a:p>
          <a:p>
            <a:pPr>
              <a:spcAft>
                <a:spcPts val="800"/>
              </a:spcAft>
              <a:defRPr sz="1200">
                <a:solidFill>
                  <a:srgbClr val="FFFFFF"/>
                </a:solidFill>
                <a:latin typeface="Aptos"/>
              </a:defRPr>
            </a:pPr>
            <a:r>
              <a:t>•  Add augmentation and robustness tests.</a:t>
            </a:r>
          </a:p>
          <a:p>
            <a:pPr>
              <a:spcAft>
                <a:spcPts val="800"/>
              </a:spcAft>
              <a:defRPr sz="1200">
                <a:solidFill>
                  <a:srgbClr val="FFFFFF"/>
                </a:solidFill>
                <a:latin typeface="Aptos"/>
              </a:defRPr>
            </a:pPr>
            <a:r>
              <a:t>•  Fine-tune selected pretrained layers.</a:t>
            </a:r>
          </a:p>
          <a:p>
            <a:pPr>
              <a:spcAft>
                <a:spcPts val="800"/>
              </a:spcAft>
              <a:defRPr sz="1200">
                <a:solidFill>
                  <a:srgbClr val="FFFFFF"/>
                </a:solidFill>
                <a:latin typeface="Aptos"/>
              </a:defRPr>
            </a:pPr>
            <a:r>
              <a:t>•  Compress the 327.4 MB model.</a:t>
            </a:r>
          </a:p>
          <a:p>
            <a:pPr>
              <a:spcAft>
                <a:spcPts val="800"/>
              </a:spcAft>
              <a:defRPr sz="1200">
                <a:solidFill>
                  <a:srgbClr val="FFFFFF"/>
                </a:solidFill>
                <a:latin typeface="Aptos"/>
              </a:defRPr>
            </a:pPr>
            <a:r>
              <a:t>•  Move toward real grasp-success labels.</a:t>
            </a:r>
          </a:p>
        </p:txBody>
      </p:sp>
      <p:sp>
        <p:nvSpPr>
          <p:cNvPr id="32" name="Rounded Rectangle 31"/>
          <p:cNvSpPr/>
          <p:nvPr/>
        </p:nvSpPr>
        <p:spPr>
          <a:xfrm>
            <a:off x="603504" y="5742432"/>
            <a:ext cx="10972800" cy="493776"/>
          </a:xfrm>
          <a:prstGeom prst="roundRect">
            <a:avLst/>
          </a:prstGeom>
          <a:solidFill>
            <a:srgbClr val="CCFBF1"/>
          </a:solidFill>
          <a:ln w="12700">
            <a:solidFill>
              <a:srgbClr val="CCFBF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 y="5742432"/>
            <a:ext cx="10533888" cy="493776"/>
          </a:xfrm>
          <a:prstGeom prst="rect">
            <a:avLst/>
          </a:prstGeom>
          <a:noFill/>
        </p:spPr>
        <p:txBody>
          <a:bodyPr wrap="square" lIns="45720" rIns="45720" anchor="ctr">
            <a:spAutoFit/>
          </a:bodyPr>
          <a:lstStyle/>
          <a:p>
            <a:pPr algn="ctr"/>
            <a:r>
              <a:rPr sz="1300" b="1">
                <a:solidFill>
                  <a:srgbClr val="0F766E"/>
                </a:solidFill>
                <a:latin typeface="Aptos"/>
              </a:rPr>
              <a:t>Machine learning performance is a system result: data + infrastructure + model + evaluation.</a:t>
            </a:r>
          </a:p>
        </p:txBody>
      </p:sp>
      <p:sp>
        <p:nvSpPr>
          <p:cNvPr id="34" name="TextBox 33"/>
          <p:cNvSpPr txBox="1"/>
          <p:nvPr/>
        </p:nvSpPr>
        <p:spPr>
          <a:xfrm>
            <a:off x="530352" y="6473952"/>
            <a:ext cx="6400800" cy="201168"/>
          </a:xfrm>
          <a:prstGeom prst="rect">
            <a:avLst/>
          </a:prstGeom>
          <a:noFill/>
        </p:spPr>
        <p:txBody>
          <a:bodyPr wrap="square" lIns="45720" rIns="45720" anchor="t">
            <a:spAutoFit/>
          </a:bodyPr>
          <a:lstStyle/>
          <a:p>
            <a:pPr algn="l"/>
            <a:r>
              <a:rPr sz="900" b="0">
                <a:solidFill>
                  <a:srgbClr val="64748B"/>
                </a:solidFill>
                <a:latin typeface="Aptos"/>
              </a:rPr>
              <a:t>PickSense  •  Computer Vision  •  August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PickSense: Occlusion Classification for Robotic Vision</dc:title>
  <dc:subject>Updated seven-slide project presentation with verified 2026 results</dc:subject>
  <dc:creator>PickSense Project</dc:creator>
  <cp:keywords/>
  <dc:description>Includes speaker notes and verified results from the current notebooks.</dc:description>
  <cp:lastModifiedBy>Steve Canny</cp:lastModifiedBy>
  <cp:revision>1</cp:revision>
  <dcterms:created xsi:type="dcterms:W3CDTF">2013-01-27T09:14:16Z</dcterms:created>
  <dcterms:modified xsi:type="dcterms:W3CDTF">2013-01-27T09:15:58Z</dcterms:modified>
  <cp:category/>
</cp:coreProperties>
</file>